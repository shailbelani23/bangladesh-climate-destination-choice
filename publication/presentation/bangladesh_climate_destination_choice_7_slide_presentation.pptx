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8ed5bbff32489a" /><Relationship Type="http://schemas.openxmlformats.org/officeDocument/2006/relationships/extended-properties" Target="/docProps/app.xml" Id="R5a08bef88a4e4f65" /><Relationship Type="http://schemas.openxmlformats.org/officeDocument/2006/relationships/officeDocument" Target="/ppt/presentation.xml" Id="Rcd78b3f0a5a842ec" /></Relationships>
</file>

<file path=ppt/presentation.xml><?xml version="1.0" encoding="utf-8"?>
<p:presentation xmlns:p="http://schemas.openxmlformats.org/presentationml/2006/main">
  <p:sldMasterIdLst>
    <p:sldMasterId xmlns:r="http://schemas.openxmlformats.org/officeDocument/2006/relationships" id="2147483648" r:id="R14a6ceb2e8484423"/>
  </p:sldMasterIdLst>
  <p:notesMasterIdLst>
    <p:notesMasterId xmlns:r="http://schemas.openxmlformats.org/officeDocument/2006/relationships" r:id="Rf427b72b808243aa"/>
  </p:notesMasterIdLst>
  <p:sldIdLst>
    <p:sldId xmlns:r="http://schemas.openxmlformats.org/officeDocument/2006/relationships" id="256" r:id="Rdbedeb0f18fd4fa2"/>
    <p:sldId xmlns:r="http://schemas.openxmlformats.org/officeDocument/2006/relationships" id="257" r:id="Rc2b7bc49916541a4"/>
    <p:sldId xmlns:r="http://schemas.openxmlformats.org/officeDocument/2006/relationships" id="258" r:id="R12125c97e82f4b71"/>
    <p:sldId xmlns:r="http://schemas.openxmlformats.org/officeDocument/2006/relationships" id="259" r:id="Rd4c8cb15be5d4640"/>
    <p:sldId xmlns:r="http://schemas.openxmlformats.org/officeDocument/2006/relationships" id="260" r:id="R3d839f9db0e24483"/>
    <p:sldId xmlns:r="http://schemas.openxmlformats.org/officeDocument/2006/relationships" id="261" r:id="R8558683ff43c48e7"/>
    <p:sldId xmlns:r="http://schemas.openxmlformats.org/officeDocument/2006/relationships" id="262" r:id="R9d33963255224d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bdd949889c4ab0" /><Relationship Type="http://schemas.openxmlformats.org/officeDocument/2006/relationships/slideMaster" Target="/ppt/slideMasters/slideMaster1.xml" Id="R14a6ceb2e8484423" /><Relationship Type="http://schemas.openxmlformats.org/officeDocument/2006/relationships/notesMaster" Target="/ppt/notesMasters/notesMaster1.xml" Id="Rf427b72b808243aa" /><Relationship Type="http://schemas.openxmlformats.org/officeDocument/2006/relationships/presProps" Target="/ppt/presProps.xml" Id="Rfe859dbceafa4477" /><Relationship Type="http://schemas.openxmlformats.org/officeDocument/2006/relationships/tableStyles" Target="/ppt/tableStyles.xml" Id="R8b42e095859f4f46" /><Relationship Type="http://schemas.openxmlformats.org/officeDocument/2006/relationships/slide" Target="/ppt/slides/slide1.xml" Id="Rdbedeb0f18fd4fa2" /><Relationship Type="http://schemas.openxmlformats.org/officeDocument/2006/relationships/slide" Target="/ppt/slides/slide2.xml" Id="Rc2b7bc49916541a4" /><Relationship Type="http://schemas.openxmlformats.org/officeDocument/2006/relationships/slide" Target="/ppt/slides/slide3.xml" Id="R12125c97e82f4b71" /><Relationship Type="http://schemas.openxmlformats.org/officeDocument/2006/relationships/slide" Target="/ppt/slides/slide4.xml" Id="Rd4c8cb15be5d4640" /><Relationship Type="http://schemas.openxmlformats.org/officeDocument/2006/relationships/slide" Target="/ppt/slides/slide5.xml" Id="R3d839f9db0e24483" /><Relationship Type="http://schemas.openxmlformats.org/officeDocument/2006/relationships/slide" Target="/ppt/slides/slide6.xml" Id="R8558683ff43c48e7" /><Relationship Type="http://schemas.openxmlformats.org/officeDocument/2006/relationships/slide" Target="/ppt/slides/slide7.xml" Id="R9d33963255224d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999188652148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42c15a005a48ed" /><Relationship Type="http://schemas.openxmlformats.org/officeDocument/2006/relationships/notesMaster" Target="/ppt/notesMasters/notesMaster1.xml" Id="R8000599293d044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5c632fa8124f9b" /><Relationship Type="http://schemas.openxmlformats.org/officeDocument/2006/relationships/notesMaster" Target="/ppt/notesMasters/notesMaster1.xml" Id="Rd901863b0e314f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c0ee9990cf422a" /><Relationship Type="http://schemas.openxmlformats.org/officeDocument/2006/relationships/notesMaster" Target="/ppt/notesMasters/notesMaster1.xml" Id="R532af190d3d344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fe73247afb404c" /><Relationship Type="http://schemas.openxmlformats.org/officeDocument/2006/relationships/notesMaster" Target="/ppt/notesMasters/notesMaster1.xml" Id="Rdbf0c6d106d248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5755e576e44d5e" /><Relationship Type="http://schemas.openxmlformats.org/officeDocument/2006/relationships/notesMaster" Target="/ppt/notesMasters/notesMaster1.xml" Id="R14ab8dfeb8bd46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48d965b7814c29" /><Relationship Type="http://schemas.openxmlformats.org/officeDocument/2006/relationships/notesMaster" Target="/ppt/notesMasters/notesMaster1.xml" Id="R573d8e0f8a2449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1810cb0764427e" /><Relationship Type="http://schemas.openxmlformats.org/officeDocument/2006/relationships/notesMaster" Target="/ppt/notesMasters/notesMaster1.xml" Id="R9dc4a9bcdbbf42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household, not the model. One surveyed household lost land and a homestead to river erosion, then moved from Faridpur to Manikganj in 2010. The study asks why that district became the destination.</a:t>
            </a:r>
          </a:p>
          <a:p xmlns:a="http://schemas.openxmlformats.org/drawingml/2006/main">
            <a:r>
              <a:t/>
            </a:r>
          </a:p>
          <a:p xmlns:a="http://schemas.openxmlformats.org/drawingml/2006/main">
            <a:r>
              <a:t>[Sources]</a:t>
            </a:r>
          </a:p>
          <a:p xmlns:a="http://schemas.openxmlformats.org/drawingml/2006/main">
            <a:r>
              <a:t>Local frozen output: outputs/figures/anonymized_household_destination_story.png</a:t>
            </a:r>
          </a:p>
          <a:p xmlns:a="http://schemas.openxmlformats.org/drawingml/2006/main">
            <a:r>
              <a:t>BIHS public-use surveys: https://doi.org/10.7910/DVN/OR6MHT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human story. The probabilities are out-of-fold predictions, so the model did not train on this household when scoring it. The example illustrates prediction, not a causal claim about why the family moved.</a:t>
            </a:r>
          </a:p>
          <a:p xmlns:a="http://schemas.openxmlformats.org/drawingml/2006/main">
            <a:r>
              <a:t/>
            </a:r>
          </a:p>
          <a:p xmlns:a="http://schemas.openxmlformats.org/drawingml/2006/main">
            <a:r>
              <a:t>[Sources]</a:t>
            </a:r>
          </a:p>
          <a:p xmlns:a="http://schemas.openxmlformats.org/drawingml/2006/main">
            <a:r>
              <a:t>Local frozen out-of-fold prediction table and figure: outputs/figures/anonymized_household_destination_story.png</a:t>
            </a:r>
          </a:p>
          <a:p xmlns:a="http://schemas.openxmlformats.org/drawingml/2006/main">
            <a:r>
              <a:t>BIHS migration module documentation: https://doi.org/10.7910/DVN/OR6MHT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comparison is between a transparent distance-population baseline and a GIS-expanded conditional logit. Main estimates group validation folds by household. Separate origin-held-out and later-wave tests ask whether the destination utility travels. The outcome is observed district choice conditional on moving, not whether a household moves.</a:t>
            </a:r>
          </a:p>
          <a:p xmlns:a="http://schemas.openxmlformats.org/drawingml/2006/main">
            <a:r>
              <a:t/>
            </a:r>
          </a:p>
          <a:p xmlns:a="http://schemas.openxmlformats.org/drawingml/2006/main">
            <a:r>
              <a:t>[Sources]</a:t>
            </a:r>
          </a:p>
          <a:p xmlns:a="http://schemas.openxmlformats.org/drawingml/2006/main">
            <a:r>
              <a:t>Local methods and frozen claims: publication/manuscript/manuscript.md</a:t>
            </a:r>
          </a:p>
          <a:p xmlns:a="http://schemas.openxmlformats.org/drawingml/2006/main">
            <a:r>
              <a:t>Radiation model: https://doi.org/10.1038/nature10856</a:t>
            </a:r>
          </a:p>
          <a:p xmlns:a="http://schemas.openxmlformats.org/drawingml/2006/main">
            <a:r>
              <a:t>Global Human Settlement Layer: https://doi.org/10.2760/098587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independent BIHS transport result. The sample covers all 64 origin districts. GIS retains a 0.101 log-loss gain when each test origin is removed from training and a 0.094 gain when a 2015 model predicts 2018–19 migrants. These are not climate-labeled migrants; they test geographic and temporal portability of the destination specification.</a:t>
            </a:r>
          </a:p>
          <a:p xmlns:a="http://schemas.openxmlformats.org/drawingml/2006/main">
            <a:r>
              <a:t/>
            </a:r>
          </a:p>
          <a:p xmlns:a="http://schemas.openxmlformats.org/drawingml/2006/main">
            <a:r>
              <a:t>[Sources]</a:t>
            </a:r>
          </a:p>
          <a:p xmlns:a="http://schemas.openxmlformats.org/drawingml/2006/main">
            <a:r>
              <a:t>Local validation output: outputs/tables/bihs_replication_validation.csv</a:t>
            </a:r>
          </a:p>
          <a:p xmlns:a="http://schemas.openxmlformats.org/drawingml/2006/main">
            <a:r>
              <a:t>BIHS public-use data: https://doi.org/10.7910/DVN/OR6MHT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climate-specific samples use the same destination outcome and fixed feature set. BIHS independently identifies erosion-related land loss as the move reason; BEMP provides the stronger sequence from a recorded shock to a later relocation. Prior BEMP research asks whether shocks change migration likelihood, type, or distance. This project conditions on a move and predicts its district.</a:t>
            </a:r>
          </a:p>
          <a:p xmlns:a="http://schemas.openxmlformats.org/drawingml/2006/main">
            <a:r>
              <a:t/>
            </a:r>
          </a:p>
          <a:p xmlns:a="http://schemas.openxmlformats.org/drawingml/2006/main">
            <a:r>
              <a:t>[Sources]</a:t>
            </a:r>
          </a:p>
          <a:p xmlns:a="http://schemas.openxmlformats.org/drawingml/2006/main">
            <a:r>
              <a:t>Local frozen summary: outputs/tables/cross_dataset_replication_summary.csv</a:t>
            </a:r>
          </a:p>
          <a:p xmlns:a="http://schemas.openxmlformats.org/drawingml/2006/main">
            <a:r>
              <a:t>BEMP public-use data: https://doi.org/10.5281/zenodo.18229498</a:t>
            </a:r>
          </a:p>
          <a:p xmlns:a="http://schemas.openxmlformats.org/drawingml/2006/main">
            <a:r>
              <a:t>BIHS public-use data: https://doi.org/10.7910/DVN/OR6MHT</a:t>
            </a:r>
          </a:p>
          <a:p xmlns:a="http://schemas.openxmlformats.org/drawingml/2006/main">
            <a:r>
              <a:t>Existing BEMP incidence paper: https://doi.org/10.1007/s11111-025-00478-7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network statistic is substantively striking but post-choice, so it is excluded from the predictive specification. A future survey should measure pre-move ties and household-specific access to land, housing, and jobs across the candidate set.</a:t>
            </a:r>
          </a:p>
          <a:p xmlns:a="http://schemas.openxmlformats.org/drawingml/2006/main">
            <a:r>
              <a:t/>
            </a:r>
          </a:p>
          <a:p xmlns:a="http://schemas.openxmlformats.org/drawingml/2006/main">
            <a:r>
              <a:t>[Sources]</a:t>
            </a:r>
          </a:p>
          <a:p xmlns:a="http://schemas.openxmlformats.org/drawingml/2006/main">
            <a:r>
              <a:t>Local audited statistic: publication/qa/manuscript_number_registry.csv</a:t>
            </a:r>
          </a:p>
          <a:p xmlns:a="http://schemas.openxmlformats.org/drawingml/2006/main">
            <a:r>
              <a:t>Local limitations: publication/manuscript/manuscript.md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household. The study cannot tell us every reason Manikganj was possible, but it shows that destination geography contains predictive information beyond distance. The next data collection should make household-destination links observable before the move.</a:t>
            </a:r>
          </a:p>
          <a:p xmlns:a="http://schemas.openxmlformats.org/drawingml/2006/main">
            <a:r>
              <a:t/>
            </a:r>
          </a:p>
          <a:p xmlns:a="http://schemas.openxmlformats.org/drawingml/2006/main">
            <a:r>
              <a:t>[Sources]</a:t>
            </a:r>
          </a:p>
          <a:p xmlns:a="http://schemas.openxmlformats.org/drawingml/2006/main">
            <a:r>
              <a:t>Local claim sheet: publication/claim_sheet.md</a:t>
            </a:r>
          </a:p>
          <a:p xmlns:a="http://schemas.openxmlformats.org/drawingml/2006/main">
            <a:r>
              <a:t>Local paper: publication/manuscript/manuscript.md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ea333e202f4a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e5c3149a314098" /><Relationship Type="http://schemas.openxmlformats.org/officeDocument/2006/relationships/slideLayout" Target="/ppt/slideLayouts/slideLayout1.xml" Id="R256cd7d2143a41f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6cd7d2143a41f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7d0069c3c7432e" /><Relationship Type="http://schemas.openxmlformats.org/officeDocument/2006/relationships/image" Target="/ppt/media/image.png" Id="Re835b864e3cd4fd2" /><Relationship Type="http://schemas.openxmlformats.org/officeDocument/2006/relationships/notesSlide" Target="/ppt/notesSlides/notesSlide1.xml" Id="R188c79527a0a4a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d20ee65cfe64cda" /><Relationship Type="http://schemas.openxmlformats.org/officeDocument/2006/relationships/notesSlide" Target="/ppt/notesSlides/notesSlide2.xml" Id="Rcdc82df1da5041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5b986febaa4873" /><Relationship Type="http://schemas.openxmlformats.org/officeDocument/2006/relationships/notesSlide" Target="/ppt/notesSlides/notesSlide3.xml" Id="Radc2f4b4ee0644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c2507c656c40b2" /><Relationship Type="http://schemas.openxmlformats.org/officeDocument/2006/relationships/image" Target="/ppt/media/image2.png" Id="R35575bee5bc2433b" /><Relationship Type="http://schemas.openxmlformats.org/officeDocument/2006/relationships/notesSlide" Target="/ppt/notesSlides/notesSlide4.xml" Id="R72477ce7ee2448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2fbedee5c84e81" /><Relationship Type="http://schemas.openxmlformats.org/officeDocument/2006/relationships/image" Target="/ppt/media/image3.png" Id="R7d01dc3e1d2b4062" /><Relationship Type="http://schemas.openxmlformats.org/officeDocument/2006/relationships/notesSlide" Target="/ppt/notesSlides/notesSlide5.xml" Id="Rc50c4f47496e49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74bea3acaa4c78" /><Relationship Type="http://schemas.openxmlformats.org/officeDocument/2006/relationships/notesSlide" Target="/ppt/notesSlides/notesSlide6.xml" Id="R26c5088bc7c943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02288d7f8a845d5" /><Relationship Type="http://schemas.openxmlformats.org/officeDocument/2006/relationships/notesSlide" Target="/ppt/notesSlides/notesSlide7.xml" Id="R0f88529cf5be4ca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ver-accent">
            <a:extLst xmlns:a="http://schemas.openxmlformats.org/drawingml/2006/main">
              <a:ext uri="{FF2B5EF4-FFF2-40B4-BE49-F238E27FC236}">
                <a16:creationId xmlns:a16="http://schemas.microsoft.com/office/drawing/2014/main" id="{703EA7A1-ECF1-4CEB-8B78-5D9F4AC680E0}"/>
              </a:ext>
            </a:extLst>
          </p:cNvPr>
          <p:cNvSpPr>
            <a:spLocks xmlns:a="http://schemas.openxmlformats.org/drawingml/2006/main" noGrp="1"/>
          </p:cNvSpPr>
          <p:nvPr/>
        </p:nvSpPr>
        <p:spPr>
          <a:xfrm xmlns:a="http://schemas.openxmlformats.org/drawingml/2006/main">
            <a:off x="495300" y="438150"/>
            <a:ext cx="95250" cy="952500"/>
          </a:xfrm>
          <a:prstGeom xmlns:a="http://schemas.openxmlformats.org/drawingml/2006/main" prst="rect">
            <a:avLst/>
          </a:prstGeom>
          <a:solidFill xmlns:a="http://schemas.openxmlformats.org/drawingml/2006/main">
            <a:srgbClr val="1877C9"/>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9FBAC242-8897-47CA-B3D9-35F178BA3F76}"/>
              </a:ext>
            </a:extLst>
          </p:cNvPr>
          <p:cNvSpPr>
            <a:spLocks xmlns:a="http://schemas.openxmlformats.org/drawingml/2006/main" noGrp="1"/>
          </p:cNvSpPr>
          <p:nvPr/>
        </p:nvSpPr>
        <p:spPr>
          <a:xfrm xmlns:a="http://schemas.openxmlformats.org/drawingml/2006/main">
            <a:off x="819150" y="485775"/>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1877C9"/>
                </a:solidFill>
              </a:defRPr>
            </a:pPr>
            <a:r>
              <a:rPr sz="1050" b="1">
                <a:solidFill>
                  <a:srgbClr val="1877C9"/>
                </a:solidFill>
              </a:rPr>
              <a:t>BANGLADESH • CLIMATE MOBILITY</a:t>
            </a:r>
          </a:p>
        </p:txBody>
      </p:sp>
      <p:sp>
        <p:nvSpPr>
          <p:cNvPr id="3" name="cover-title">
            <a:extLst xmlns:a="http://schemas.openxmlformats.org/drawingml/2006/main">
              <a:ext uri="{FF2B5EF4-FFF2-40B4-BE49-F238E27FC236}">
                <a16:creationId xmlns:a16="http://schemas.microsoft.com/office/drawing/2014/main" id="{05F69003-5DFB-417C-B891-41313D747B96}"/>
              </a:ext>
            </a:extLst>
          </p:cNvPr>
          <p:cNvSpPr>
            <a:spLocks xmlns:a="http://schemas.openxmlformats.org/drawingml/2006/main" noGrp="1"/>
          </p:cNvSpPr>
          <p:nvPr/>
        </p:nvSpPr>
        <p:spPr>
          <a:xfrm xmlns:a="http://schemas.openxmlformats.org/drawingml/2006/main">
            <a:off x="495300" y="1695450"/>
            <a:ext cx="5334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050" b="1">
                <a:solidFill>
                  <a:srgbClr val="111827"/>
                </a:solidFill>
              </a:defRPr>
            </a:pPr>
            <a:r>
              <a:rPr sz="4050" b="1">
                <a:solidFill>
                  <a:srgbClr val="111827"/>
                </a:solidFill>
              </a:rPr>
              <a:t>Where do climate-affected households go?</a:t>
            </a:r>
          </a:p>
        </p:txBody>
      </p:sp>
      <p:sp>
        <p:nvSpPr>
          <p:cNvPr id="4" name="cover-subtitle">
            <a:extLst xmlns:a="http://schemas.openxmlformats.org/drawingml/2006/main">
              <a:ext uri="{FF2B5EF4-FFF2-40B4-BE49-F238E27FC236}">
                <a16:creationId xmlns:a16="http://schemas.microsoft.com/office/drawing/2014/main" id="{B8E54F52-99CE-4922-A0D6-BCAA4EBE7BB3}"/>
              </a:ext>
            </a:extLst>
          </p:cNvPr>
          <p:cNvSpPr>
            <a:spLocks xmlns:a="http://schemas.openxmlformats.org/drawingml/2006/main" noGrp="1"/>
          </p:cNvSpPr>
          <p:nvPr/>
        </p:nvSpPr>
        <p:spPr>
          <a:xfrm xmlns:a="http://schemas.openxmlformats.org/drawingml/2006/main">
            <a:off x="495300" y="3943350"/>
            <a:ext cx="5143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556070"/>
                </a:solidFill>
              </a:defRPr>
            </a:pPr>
            <a:r>
              <a:rPr sz="1725" b="0">
                <a:solidFill>
                  <a:srgbClr val="556070"/>
                </a:solidFill>
              </a:rPr>
              <a:t>Revealed destination choice after flood and river erosion</a:t>
            </a:r>
          </a:p>
        </p:txBody>
      </p:sp>
      <p:sp>
        <p:nvSpPr>
          <p:cNvPr id="5" name="cover-author">
            <a:extLst xmlns:a="http://schemas.openxmlformats.org/drawingml/2006/main">
              <a:ext uri="{FF2B5EF4-FFF2-40B4-BE49-F238E27FC236}">
                <a16:creationId xmlns:a16="http://schemas.microsoft.com/office/drawing/2014/main" id="{A39959BB-FF73-4ED6-8ACB-6EECD2E028D4}"/>
              </a:ext>
            </a:extLst>
          </p:cNvPr>
          <p:cNvSpPr>
            <a:spLocks xmlns:a="http://schemas.openxmlformats.org/drawingml/2006/main" noGrp="1"/>
          </p:cNvSpPr>
          <p:nvPr/>
        </p:nvSpPr>
        <p:spPr>
          <a:xfrm xmlns:a="http://schemas.openxmlformats.org/drawingml/2006/main">
            <a:off x="495300" y="546735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111827"/>
                </a:solidFill>
              </a:defRPr>
            </a:pPr>
            <a:r>
              <a:rPr sz="1200" b="0">
                <a:solidFill>
                  <a:srgbClr val="111827"/>
                </a:solidFill>
              </a:rPr>
              <a:t>Shail Belani  •  Undergraduate Researcher</a:t>
            </a:r>
          </a:p>
          <a:p xmlns:a="http://schemas.openxmlformats.org/drawingml/2006/main">
            <a:pPr algn="l">
              <a:defRPr sz="1200" b="0">
                <a:solidFill>
                  <a:srgbClr val="111827"/>
                </a:solidFill>
              </a:defRPr>
            </a:pPr>
            <a:r>
              <a:rPr sz="1200" b="0">
                <a:solidFill>
                  <a:srgbClr val="111827"/>
                </a:solidFill>
              </a:rPr>
              <a:t>Northwestern University</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835b864e3cd4fd2"/>
          <a:stretch xmlns:a="http://schemas.openxmlformats.org/drawingml/2006/main"/>
        </p:blipFill>
        <p:spPr>
          <a:xfrm xmlns:a="http://schemas.openxmlformats.org/drawingml/2006/main">
            <a:off x="6134100" y="1589472"/>
            <a:ext cx="5562600" cy="3279006"/>
          </a:xfrm>
          <a:prstGeom xmlns:a="http://schemas.openxmlformats.org/drawingml/2006/main" prst="rect">
            <a:avLst/>
          </a:prstGeom>
        </p:spPr>
      </p:pic>
      <p:sp>
        <p:nvSpPr>
          <p:cNvPr id="7" name="cover-number">
            <a:extLst xmlns:a="http://schemas.openxmlformats.org/drawingml/2006/main">
              <a:ext uri="{FF2B5EF4-FFF2-40B4-BE49-F238E27FC236}">
                <a16:creationId xmlns:a16="http://schemas.microsoft.com/office/drawing/2014/main" id="{E2BE88E8-66DC-4682-9A00-4201893E7B88}"/>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01</a:t>
            </a:r>
          </a:p>
        </p:txBody>
      </p:sp>
    </p:spTree>
    <p:extLst>
      <p:ext uri="{BB962C8B-B14F-4D97-AF65-F5344CB8AC3E}">
        <p14:creationId xmlns:p14="http://schemas.microsoft.com/office/powerpoint/2010/main" val="80633569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kicker-2">
            <a:extLst xmlns:a="http://schemas.openxmlformats.org/drawingml/2006/main">
              <a:ext uri="{FF2B5EF4-FFF2-40B4-BE49-F238E27FC236}">
                <a16:creationId xmlns:a16="http://schemas.microsoft.com/office/drawing/2014/main" id="{54F7751C-3B8F-4BA6-B4DD-3BC05354CC5A}"/>
              </a:ext>
            </a:extLst>
          </p:cNvPr>
          <p:cNvSpPr>
            <a:spLocks xmlns:a="http://schemas.openxmlformats.org/drawingml/2006/main" noGrp="1"/>
          </p:cNvSpPr>
          <p:nvPr/>
        </p:nvSpPr>
        <p:spPr>
          <a:xfrm xmlns:a="http://schemas.openxmlformats.org/drawingml/2006/main">
            <a:off x="495300" y="3238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1877C9"/>
                </a:solidFill>
              </a:defRPr>
            </a:pPr>
            <a:r>
              <a:rPr sz="975" b="1">
                <a:solidFill>
                  <a:srgbClr val="1877C9"/>
                </a:solidFill>
              </a:rPr>
              <a:t>ONE ANONYMIZED HOUSEHOLD</a:t>
            </a:r>
          </a:p>
        </p:txBody>
      </p:sp>
      <p:sp>
        <p:nvSpPr>
          <p:cNvPr id="2" name="title-2">
            <a:extLst xmlns:a="http://schemas.openxmlformats.org/drawingml/2006/main">
              <a:ext uri="{FF2B5EF4-FFF2-40B4-BE49-F238E27FC236}">
                <a16:creationId xmlns:a16="http://schemas.microsoft.com/office/drawing/2014/main" id="{C38CBEA1-0DBE-4AC0-AF9A-D60D7A83D861}"/>
              </a:ext>
            </a:extLst>
          </p:cNvPr>
          <p:cNvSpPr>
            <a:spLocks xmlns:a="http://schemas.openxmlformats.org/drawingml/2006/main" noGrp="1"/>
          </p:cNvSpPr>
          <p:nvPr/>
        </p:nvSpPr>
        <p:spPr>
          <a:xfrm xmlns:a="http://schemas.openxmlformats.org/drawingml/2006/main">
            <a:off x="495300" y="666750"/>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11827"/>
                </a:solidFill>
              </a:defRPr>
            </a:pPr>
            <a:r>
              <a:rPr sz="2850" b="1">
                <a:solidFill>
                  <a:srgbClr val="111827"/>
                </a:solidFill>
              </a:rPr>
              <a:t>A lost homestead became a destination decision</a:t>
            </a:r>
          </a:p>
        </p:txBody>
      </p:sp>
      <p:sp>
        <p:nvSpPr>
          <p:cNvPr id="3" name="header-rule-2">
            <a:extLst xmlns:a="http://schemas.openxmlformats.org/drawingml/2006/main">
              <a:ext uri="{FF2B5EF4-FFF2-40B4-BE49-F238E27FC236}">
                <a16:creationId xmlns:a16="http://schemas.microsoft.com/office/drawing/2014/main" id="{79E78AA4-5743-40B1-BFD7-EE9047D8CA6A}"/>
              </a:ext>
            </a:extLst>
          </p:cNvPr>
          <p:cNvSpPr>
            <a:spLocks xmlns:a="http://schemas.openxmlformats.org/drawingml/2006/main" noGrp="1"/>
          </p:cNvSpPr>
          <p:nvPr/>
        </p:nvSpPr>
        <p:spPr>
          <a:xfrm xmlns:a="http://schemas.openxmlformats.org/drawingml/2006/main">
            <a:off x="495300" y="1438275"/>
            <a:ext cx="11201400" cy="190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4" name="number-2">
            <a:extLst xmlns:a="http://schemas.openxmlformats.org/drawingml/2006/main">
              <a:ext uri="{FF2B5EF4-FFF2-40B4-BE49-F238E27FC236}">
                <a16:creationId xmlns:a16="http://schemas.microsoft.com/office/drawing/2014/main" id="{AE0E8F55-14F8-4B57-A5D7-AFC4BE5BC52F}"/>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02</a:t>
            </a:r>
          </a:p>
        </p:txBody>
      </p:sp>
      <p:sp>
        <p:nvSpPr>
          <p:cNvPr id="5" name="timeline">
            <a:extLst xmlns:a="http://schemas.openxmlformats.org/drawingml/2006/main">
              <a:ext uri="{FF2B5EF4-FFF2-40B4-BE49-F238E27FC236}">
                <a16:creationId xmlns:a16="http://schemas.microsoft.com/office/drawing/2014/main" id="{1B1E2028-AD9A-4677-B123-8C3505BBF43E}"/>
              </a:ext>
            </a:extLst>
          </p:cNvPr>
          <p:cNvSpPr>
            <a:spLocks xmlns:a="http://schemas.openxmlformats.org/drawingml/2006/main" noGrp="1"/>
          </p:cNvSpPr>
          <p:nvPr/>
        </p:nvSpPr>
        <p:spPr>
          <a:xfrm xmlns:a="http://schemas.openxmlformats.org/drawingml/2006/main">
            <a:off x="1143000" y="3143250"/>
            <a:ext cx="9906000" cy="28575"/>
          </a:xfrm>
          <a:prstGeom xmlns:a="http://schemas.openxmlformats.org/drawingml/2006/main" prst="rect">
            <a:avLst/>
          </a:prstGeom>
          <a:solidFill xmlns:a="http://schemas.openxmlformats.org/drawingml/2006/main">
            <a:srgbClr val="CBD1D9"/>
          </a:solidFill>
          <a:ln xmlns:a="http://schemas.openxmlformats.org/drawingml/2006/main" w="0">
            <a:noFill/>
            <a:prstDash val="solid"/>
          </a:ln>
        </p:spPr>
      </p:sp>
      <p:sp>
        <p:nvSpPr>
          <p:cNvPr id="6" name="dot-0">
            <a:extLst xmlns:a="http://schemas.openxmlformats.org/drawingml/2006/main">
              <a:ext uri="{FF2B5EF4-FFF2-40B4-BE49-F238E27FC236}">
                <a16:creationId xmlns:a16="http://schemas.microsoft.com/office/drawing/2014/main" id="{763D8A9C-7055-46C3-B1AD-50559CF4BCD2}"/>
              </a:ext>
            </a:extLst>
          </p:cNvPr>
          <p:cNvSpPr>
            <a:spLocks xmlns:a="http://schemas.openxmlformats.org/drawingml/2006/main" noGrp="1"/>
          </p:cNvSpPr>
          <p:nvPr/>
        </p:nvSpPr>
        <p:spPr>
          <a:xfrm xmlns:a="http://schemas.openxmlformats.org/drawingml/2006/main">
            <a:off x="1724025" y="3067050"/>
            <a:ext cx="171450" cy="1714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7" name="step-title-0">
            <a:extLst xmlns:a="http://schemas.openxmlformats.org/drawingml/2006/main">
              <a:ext uri="{FF2B5EF4-FFF2-40B4-BE49-F238E27FC236}">
                <a16:creationId xmlns:a16="http://schemas.microsoft.com/office/drawing/2014/main" id="{FD54883A-C8C6-4EBE-8326-F4D32DBE6BE3}"/>
              </a:ext>
            </a:extLst>
          </p:cNvPr>
          <p:cNvSpPr>
            <a:spLocks xmlns:a="http://schemas.openxmlformats.org/drawingml/2006/main" noGrp="1"/>
          </p:cNvSpPr>
          <p:nvPr/>
        </p:nvSpPr>
        <p:spPr>
          <a:xfrm xmlns:a="http://schemas.openxmlformats.org/drawingml/2006/main">
            <a:off x="381000" y="20764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111827"/>
                </a:solidFill>
              </a:defRPr>
            </a:pPr>
            <a:r>
              <a:rPr sz="1800" b="1">
                <a:solidFill>
                  <a:srgbClr val="111827"/>
                </a:solidFill>
              </a:rPr>
              <a:t>River erosion</a:t>
            </a:r>
          </a:p>
        </p:txBody>
      </p:sp>
      <p:sp>
        <p:nvSpPr>
          <p:cNvPr id="8" name="step-body-0">
            <a:extLst xmlns:a="http://schemas.openxmlformats.org/drawingml/2006/main">
              <a:ext uri="{FF2B5EF4-FFF2-40B4-BE49-F238E27FC236}">
                <a16:creationId xmlns:a16="http://schemas.microsoft.com/office/drawing/2014/main" id="{EF730496-D51B-4477-B5AD-B72426F1E1FA}"/>
              </a:ext>
            </a:extLst>
          </p:cNvPr>
          <p:cNvSpPr>
            <a:spLocks xmlns:a="http://schemas.openxmlformats.org/drawingml/2006/main" noGrp="1"/>
          </p:cNvSpPr>
          <p:nvPr/>
        </p:nvSpPr>
        <p:spPr>
          <a:xfrm xmlns:a="http://schemas.openxmlformats.org/drawingml/2006/main">
            <a:off x="342900" y="3562350"/>
            <a:ext cx="29337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556070"/>
                </a:solidFill>
              </a:defRPr>
            </a:pPr>
            <a:r>
              <a:rPr sz="1275" b="0">
                <a:solidFill>
                  <a:srgbClr val="556070"/>
                </a:solidFill>
              </a:rPr>
              <a:t>The survey records loss of land or homestead as the reason for moving.</a:t>
            </a:r>
          </a:p>
        </p:txBody>
      </p:sp>
      <p:sp>
        <p:nvSpPr>
          <p:cNvPr id="9" name="dot-1">
            <a:extLst xmlns:a="http://schemas.openxmlformats.org/drawingml/2006/main">
              <a:ext uri="{FF2B5EF4-FFF2-40B4-BE49-F238E27FC236}">
                <a16:creationId xmlns:a16="http://schemas.microsoft.com/office/drawing/2014/main" id="{CFB91331-2276-4F9D-80D9-AF4E9351BB6D}"/>
              </a:ext>
            </a:extLst>
          </p:cNvPr>
          <p:cNvSpPr>
            <a:spLocks xmlns:a="http://schemas.openxmlformats.org/drawingml/2006/main" noGrp="1"/>
          </p:cNvSpPr>
          <p:nvPr/>
        </p:nvSpPr>
        <p:spPr>
          <a:xfrm xmlns:a="http://schemas.openxmlformats.org/drawingml/2006/main">
            <a:off x="6010275" y="3067050"/>
            <a:ext cx="171450" cy="1714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0" name="step-title-1">
            <a:extLst xmlns:a="http://schemas.openxmlformats.org/drawingml/2006/main">
              <a:ext uri="{FF2B5EF4-FFF2-40B4-BE49-F238E27FC236}">
                <a16:creationId xmlns:a16="http://schemas.microsoft.com/office/drawing/2014/main" id="{589CD337-E0E6-47AD-A543-FCF0E706D1DB}"/>
              </a:ext>
            </a:extLst>
          </p:cNvPr>
          <p:cNvSpPr>
            <a:spLocks xmlns:a="http://schemas.openxmlformats.org/drawingml/2006/main" noGrp="1"/>
          </p:cNvSpPr>
          <p:nvPr/>
        </p:nvSpPr>
        <p:spPr>
          <a:xfrm xmlns:a="http://schemas.openxmlformats.org/drawingml/2006/main">
            <a:off x="4667250" y="20764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111827"/>
                </a:solidFill>
              </a:defRPr>
            </a:pPr>
            <a:r>
              <a:rPr sz="1800" b="1">
                <a:solidFill>
                  <a:srgbClr val="111827"/>
                </a:solidFill>
              </a:rPr>
              <a:t>Move in 2010</a:t>
            </a:r>
          </a:p>
        </p:txBody>
      </p:sp>
      <p:sp>
        <p:nvSpPr>
          <p:cNvPr id="11" name="step-body-1">
            <a:extLst xmlns:a="http://schemas.openxmlformats.org/drawingml/2006/main">
              <a:ext uri="{FF2B5EF4-FFF2-40B4-BE49-F238E27FC236}">
                <a16:creationId xmlns:a16="http://schemas.microsoft.com/office/drawing/2014/main" id="{5E758D2F-EDBC-4245-92A7-F71914DD48EC}"/>
              </a:ext>
            </a:extLst>
          </p:cNvPr>
          <p:cNvSpPr>
            <a:spLocks xmlns:a="http://schemas.openxmlformats.org/drawingml/2006/main" noGrp="1"/>
          </p:cNvSpPr>
          <p:nvPr/>
        </p:nvSpPr>
        <p:spPr>
          <a:xfrm xmlns:a="http://schemas.openxmlformats.org/drawingml/2006/main">
            <a:off x="4629150" y="3562350"/>
            <a:ext cx="29337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556070"/>
                </a:solidFill>
              </a:defRPr>
            </a:pPr>
            <a:r>
              <a:rPr sz="1275" b="0">
                <a:solidFill>
                  <a:srgbClr val="556070"/>
                </a:solidFill>
              </a:rPr>
              <a:t>The household leaves Faridpur. Its exact address and identity remain private.</a:t>
            </a:r>
          </a:p>
        </p:txBody>
      </p:sp>
      <p:sp>
        <p:nvSpPr>
          <p:cNvPr id="12" name="dot-2">
            <a:extLst xmlns:a="http://schemas.openxmlformats.org/drawingml/2006/main">
              <a:ext uri="{FF2B5EF4-FFF2-40B4-BE49-F238E27FC236}">
                <a16:creationId xmlns:a16="http://schemas.microsoft.com/office/drawing/2014/main" id="{AF622039-FEE2-41D2-ADE0-BBDB18ED4DB6}"/>
              </a:ext>
            </a:extLst>
          </p:cNvPr>
          <p:cNvSpPr>
            <a:spLocks xmlns:a="http://schemas.openxmlformats.org/drawingml/2006/main" noGrp="1"/>
          </p:cNvSpPr>
          <p:nvPr/>
        </p:nvSpPr>
        <p:spPr>
          <a:xfrm xmlns:a="http://schemas.openxmlformats.org/drawingml/2006/main">
            <a:off x="10296525" y="3067050"/>
            <a:ext cx="171450" cy="171450"/>
          </a:xfrm>
          <a:prstGeom xmlns:a="http://schemas.openxmlformats.org/drawingml/2006/main" prst="rect">
            <a:avLst/>
          </a:prstGeom>
          <a:solidFill xmlns:a="http://schemas.openxmlformats.org/drawingml/2006/main">
            <a:srgbClr val="1877C9"/>
          </a:solidFill>
          <a:ln xmlns:a="http://schemas.openxmlformats.org/drawingml/2006/main" w="0">
            <a:noFill/>
            <a:prstDash val="solid"/>
          </a:ln>
        </p:spPr>
      </p:sp>
      <p:sp>
        <p:nvSpPr>
          <p:cNvPr id="13" name="step-title-2">
            <a:extLst xmlns:a="http://schemas.openxmlformats.org/drawingml/2006/main">
              <a:ext uri="{FF2B5EF4-FFF2-40B4-BE49-F238E27FC236}">
                <a16:creationId xmlns:a16="http://schemas.microsoft.com/office/drawing/2014/main" id="{87E6F279-1EED-475A-AE0E-A5AC9F99D033}"/>
              </a:ext>
            </a:extLst>
          </p:cNvPr>
          <p:cNvSpPr>
            <a:spLocks xmlns:a="http://schemas.openxmlformats.org/drawingml/2006/main" noGrp="1"/>
          </p:cNvSpPr>
          <p:nvPr/>
        </p:nvSpPr>
        <p:spPr>
          <a:xfrm xmlns:a="http://schemas.openxmlformats.org/drawingml/2006/main">
            <a:off x="8953500" y="20764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111827"/>
                </a:solidFill>
              </a:defRPr>
            </a:pPr>
            <a:r>
              <a:rPr sz="1800" b="1">
                <a:solidFill>
                  <a:srgbClr val="111827"/>
                </a:solidFill>
              </a:rPr>
              <a:t>Manikganj chosen</a:t>
            </a:r>
          </a:p>
        </p:txBody>
      </p:sp>
      <p:sp>
        <p:nvSpPr>
          <p:cNvPr id="14" name="step-body-2">
            <a:extLst xmlns:a="http://schemas.openxmlformats.org/drawingml/2006/main">
              <a:ext uri="{FF2B5EF4-FFF2-40B4-BE49-F238E27FC236}">
                <a16:creationId xmlns:a16="http://schemas.microsoft.com/office/drawing/2014/main" id="{134B9F49-E6AB-4786-AD70-4F011F136875}"/>
              </a:ext>
            </a:extLst>
          </p:cNvPr>
          <p:cNvSpPr>
            <a:spLocks xmlns:a="http://schemas.openxmlformats.org/drawingml/2006/main" noGrp="1"/>
          </p:cNvSpPr>
          <p:nvPr/>
        </p:nvSpPr>
        <p:spPr>
          <a:xfrm xmlns:a="http://schemas.openxmlformats.org/drawingml/2006/main">
            <a:off x="8915400" y="3562350"/>
            <a:ext cx="29337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556070"/>
                </a:solidFill>
              </a:defRPr>
            </a:pPr>
            <a:r>
              <a:rPr sz="1275" b="0">
                <a:solidFill>
                  <a:srgbClr val="556070"/>
                </a:solidFill>
              </a:rPr>
              <a:t>Among 64 districts, the GIS model ranks the observed destination 2nd; gravity ranks it 6th.</a:t>
            </a:r>
          </a:p>
        </p:txBody>
      </p:sp>
      <p:sp>
        <p:nvSpPr>
          <p:cNvPr id="15" name="prob-strip">
            <a:extLst xmlns:a="http://schemas.openxmlformats.org/drawingml/2006/main">
              <a:ext uri="{FF2B5EF4-FFF2-40B4-BE49-F238E27FC236}">
                <a16:creationId xmlns:a16="http://schemas.microsoft.com/office/drawing/2014/main" id="{FE64D75B-D539-421E-825A-44B2E3B13E5F}"/>
              </a:ext>
            </a:extLst>
          </p:cNvPr>
          <p:cNvSpPr>
            <a:spLocks xmlns:a="http://schemas.openxmlformats.org/drawingml/2006/main" noGrp="1"/>
          </p:cNvSpPr>
          <p:nvPr/>
        </p:nvSpPr>
        <p:spPr>
          <a:xfrm xmlns:a="http://schemas.openxmlformats.org/drawingml/2006/main">
            <a:off x="3486150" y="5286375"/>
            <a:ext cx="5219700" cy="571500"/>
          </a:xfrm>
          <a:prstGeom xmlns:a="http://schemas.openxmlformats.org/drawingml/2006/main" prst="rect">
            <a:avLst/>
          </a:prstGeom>
          <a:solidFill xmlns:a="http://schemas.openxmlformats.org/drawingml/2006/main">
            <a:srgbClr val="DDF0FC"/>
          </a:solidFill>
          <a:ln xmlns:a="http://schemas.openxmlformats.org/drawingml/2006/main" w="0">
            <a:noFill/>
            <a:prstDash val="solid"/>
          </a:ln>
        </p:spPr>
      </p:sp>
      <p:sp>
        <p:nvSpPr>
          <p:cNvPr id="16" name="probability">
            <a:extLst xmlns:a="http://schemas.openxmlformats.org/drawingml/2006/main">
              <a:ext uri="{FF2B5EF4-FFF2-40B4-BE49-F238E27FC236}">
                <a16:creationId xmlns:a16="http://schemas.microsoft.com/office/drawing/2014/main" id="{15541E0D-384C-4432-BE63-43C4AF9CC7F8}"/>
              </a:ext>
            </a:extLst>
          </p:cNvPr>
          <p:cNvSpPr>
            <a:spLocks xmlns:a="http://schemas.openxmlformats.org/drawingml/2006/main" noGrp="1"/>
          </p:cNvSpPr>
          <p:nvPr/>
        </p:nvSpPr>
        <p:spPr>
          <a:xfrm xmlns:a="http://schemas.openxmlformats.org/drawingml/2006/main">
            <a:off x="3714750" y="5457825"/>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877C9"/>
                </a:solidFill>
              </a:defRPr>
            </a:pPr>
            <a:r>
              <a:rPr sz="1350" b="1">
                <a:solidFill>
                  <a:srgbClr val="1877C9"/>
                </a:solidFill>
              </a:rPr>
              <a:t>Observed-destination probability: 7.0% gravity  →  13.7% GIS</a:t>
            </a:r>
          </a:p>
        </p:txBody>
      </p:sp>
    </p:spTree>
    <p:extLst>
      <p:ext uri="{BB962C8B-B14F-4D97-AF65-F5344CB8AC3E}">
        <p14:creationId xmlns:p14="http://schemas.microsoft.com/office/powerpoint/2010/main" val="12827550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kicker-3">
            <a:extLst xmlns:a="http://schemas.openxmlformats.org/drawingml/2006/main">
              <a:ext uri="{FF2B5EF4-FFF2-40B4-BE49-F238E27FC236}">
                <a16:creationId xmlns:a16="http://schemas.microsoft.com/office/drawing/2014/main" id="{DACED9B2-C28D-4FA8-9E79-54C9B03BCC5C}"/>
              </a:ext>
            </a:extLst>
          </p:cNvPr>
          <p:cNvSpPr>
            <a:spLocks xmlns:a="http://schemas.openxmlformats.org/drawingml/2006/main" noGrp="1"/>
          </p:cNvSpPr>
          <p:nvPr/>
        </p:nvSpPr>
        <p:spPr>
          <a:xfrm xmlns:a="http://schemas.openxmlformats.org/drawingml/2006/main">
            <a:off x="495300" y="3238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1877C9"/>
                </a:solidFill>
              </a:defRPr>
            </a:pPr>
            <a:r>
              <a:rPr sz="975" b="1">
                <a:solidFill>
                  <a:srgbClr val="1877C9"/>
                </a:solidFill>
              </a:rPr>
              <a:t>EMPIRICAL DESIGN</a:t>
            </a:r>
          </a:p>
        </p:txBody>
      </p:sp>
      <p:sp>
        <p:nvSpPr>
          <p:cNvPr id="2" name="title-3">
            <a:extLst xmlns:a="http://schemas.openxmlformats.org/drawingml/2006/main">
              <a:ext uri="{FF2B5EF4-FFF2-40B4-BE49-F238E27FC236}">
                <a16:creationId xmlns:a16="http://schemas.microsoft.com/office/drawing/2014/main" id="{15628592-A209-4D4F-8C7B-D25439902D86}"/>
              </a:ext>
            </a:extLst>
          </p:cNvPr>
          <p:cNvSpPr>
            <a:spLocks xmlns:a="http://schemas.openxmlformats.org/drawingml/2006/main" noGrp="1"/>
          </p:cNvSpPr>
          <p:nvPr/>
        </p:nvSpPr>
        <p:spPr>
          <a:xfrm xmlns:a="http://schemas.openxmlformats.org/drawingml/2006/main">
            <a:off x="495300" y="666750"/>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11827"/>
                </a:solidFill>
              </a:defRPr>
            </a:pPr>
            <a:r>
              <a:rPr sz="2850" b="1">
                <a:solidFill>
                  <a:srgbClr val="111827"/>
                </a:solidFill>
              </a:rPr>
              <a:t>The test is simple: can destination geography beat distance?</a:t>
            </a:r>
          </a:p>
        </p:txBody>
      </p:sp>
      <p:sp>
        <p:nvSpPr>
          <p:cNvPr id="3" name="header-rule-3">
            <a:extLst xmlns:a="http://schemas.openxmlformats.org/drawingml/2006/main">
              <a:ext uri="{FF2B5EF4-FFF2-40B4-BE49-F238E27FC236}">
                <a16:creationId xmlns:a16="http://schemas.microsoft.com/office/drawing/2014/main" id="{A2554F0E-F2D8-418E-AB17-45407426DDBC}"/>
              </a:ext>
            </a:extLst>
          </p:cNvPr>
          <p:cNvSpPr>
            <a:spLocks xmlns:a="http://schemas.openxmlformats.org/drawingml/2006/main" noGrp="1"/>
          </p:cNvSpPr>
          <p:nvPr/>
        </p:nvSpPr>
        <p:spPr>
          <a:xfrm xmlns:a="http://schemas.openxmlformats.org/drawingml/2006/main">
            <a:off x="495300" y="1438275"/>
            <a:ext cx="11201400" cy="190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4" name="number-3">
            <a:extLst xmlns:a="http://schemas.openxmlformats.org/drawingml/2006/main">
              <a:ext uri="{FF2B5EF4-FFF2-40B4-BE49-F238E27FC236}">
                <a16:creationId xmlns:a16="http://schemas.microsoft.com/office/drawing/2014/main" id="{D9B05C6D-2613-4FB8-B677-BDE61DDCC82B}"/>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03</a:t>
            </a:r>
          </a:p>
        </p:txBody>
      </p:sp>
      <p:sp>
        <p:nvSpPr>
          <p:cNvPr id="5" name="method-panel-0">
            <a:extLst xmlns:a="http://schemas.openxmlformats.org/drawingml/2006/main">
              <a:ext uri="{FF2B5EF4-FFF2-40B4-BE49-F238E27FC236}">
                <a16:creationId xmlns:a16="http://schemas.microsoft.com/office/drawing/2014/main" id="{81827D7F-FC6A-4E7A-BE21-BD4D58153265}"/>
              </a:ext>
            </a:extLst>
          </p:cNvPr>
          <p:cNvSpPr>
            <a:spLocks xmlns:a="http://schemas.openxmlformats.org/drawingml/2006/main" noGrp="1"/>
          </p:cNvSpPr>
          <p:nvPr/>
        </p:nvSpPr>
        <p:spPr>
          <a:xfrm xmlns:a="http://schemas.openxmlformats.org/drawingml/2006/main">
            <a:off x="495300" y="2057400"/>
            <a:ext cx="3333750" cy="32766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6" name="method-accent-0">
            <a:extLst xmlns:a="http://schemas.openxmlformats.org/drawingml/2006/main">
              <a:ext uri="{FF2B5EF4-FFF2-40B4-BE49-F238E27FC236}">
                <a16:creationId xmlns:a16="http://schemas.microsoft.com/office/drawing/2014/main" id="{A25DE05B-AF6F-4357-B580-DF6361D04B89}"/>
              </a:ext>
            </a:extLst>
          </p:cNvPr>
          <p:cNvSpPr>
            <a:spLocks xmlns:a="http://schemas.openxmlformats.org/drawingml/2006/main" noGrp="1"/>
          </p:cNvSpPr>
          <p:nvPr/>
        </p:nvSpPr>
        <p:spPr>
          <a:xfrm xmlns:a="http://schemas.openxmlformats.org/drawingml/2006/main">
            <a:off x="495300" y="2057400"/>
            <a:ext cx="3333750" cy="85725"/>
          </a:xfrm>
          <a:prstGeom xmlns:a="http://schemas.openxmlformats.org/drawingml/2006/main" prst="rect">
            <a:avLst/>
          </a:prstGeom>
          <a:solidFill xmlns:a="http://schemas.openxmlformats.org/drawingml/2006/main">
            <a:srgbClr val="C66A15"/>
          </a:solidFill>
          <a:ln xmlns:a="http://schemas.openxmlformats.org/drawingml/2006/main" w="0">
            <a:noFill/>
            <a:prstDash val="solid"/>
          </a:ln>
        </p:spPr>
      </p:sp>
      <p:sp>
        <p:nvSpPr>
          <p:cNvPr id="7" name="method-label-0">
            <a:extLst xmlns:a="http://schemas.openxmlformats.org/drawingml/2006/main">
              <a:ext uri="{FF2B5EF4-FFF2-40B4-BE49-F238E27FC236}">
                <a16:creationId xmlns:a16="http://schemas.microsoft.com/office/drawing/2014/main" id="{CABC2B9C-2C10-4726-BAE7-95B7233EA49E}"/>
              </a:ext>
            </a:extLst>
          </p:cNvPr>
          <p:cNvSpPr>
            <a:spLocks xmlns:a="http://schemas.openxmlformats.org/drawingml/2006/main" noGrp="1"/>
          </p:cNvSpPr>
          <p:nvPr/>
        </p:nvSpPr>
        <p:spPr>
          <a:xfrm xmlns:a="http://schemas.openxmlformats.org/drawingml/2006/main">
            <a:off x="742950" y="2352675"/>
            <a:ext cx="2819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1  Observe a move</a:t>
            </a:r>
          </a:p>
        </p:txBody>
      </p:sp>
      <p:sp>
        <p:nvSpPr>
          <p:cNvPr id="8" name="method-copy-0">
            <a:extLst xmlns:a="http://schemas.openxmlformats.org/drawingml/2006/main">
              <a:ext uri="{FF2B5EF4-FFF2-40B4-BE49-F238E27FC236}">
                <a16:creationId xmlns:a16="http://schemas.microsoft.com/office/drawing/2014/main" id="{7543B6CD-7C8E-4932-96F4-46D7D543DE41}"/>
              </a:ext>
            </a:extLst>
          </p:cNvPr>
          <p:cNvSpPr>
            <a:spLocks xmlns:a="http://schemas.openxmlformats.org/drawingml/2006/main" noGrp="1"/>
          </p:cNvSpPr>
          <p:nvPr/>
        </p:nvSpPr>
        <p:spPr>
          <a:xfrm xmlns:a="http://schemas.openxmlformats.org/drawingml/2006/main">
            <a:off x="742950" y="3105150"/>
            <a:ext cx="28194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defRPr>
            </a:pPr>
            <a:r>
              <a:rPr sz="1350" b="0">
                <a:solidFill>
                  <a:srgbClr val="556070"/>
                </a:solidFill>
              </a:rPr>
              <a:t>BEMP and BIHS identify an origin district, an observed destination district, and a migration event.</a:t>
            </a:r>
          </a:p>
        </p:txBody>
      </p:sp>
      <p:sp>
        <p:nvSpPr>
          <p:cNvPr id="9" name="method-panel-1">
            <a:extLst xmlns:a="http://schemas.openxmlformats.org/drawingml/2006/main">
              <a:ext uri="{FF2B5EF4-FFF2-40B4-BE49-F238E27FC236}">
                <a16:creationId xmlns:a16="http://schemas.microsoft.com/office/drawing/2014/main" id="{F3DBFFA3-85E8-4AED-A4D1-BD9A51D874BC}"/>
              </a:ext>
            </a:extLst>
          </p:cNvPr>
          <p:cNvSpPr>
            <a:spLocks xmlns:a="http://schemas.openxmlformats.org/drawingml/2006/main" noGrp="1"/>
          </p:cNvSpPr>
          <p:nvPr/>
        </p:nvSpPr>
        <p:spPr>
          <a:xfrm xmlns:a="http://schemas.openxmlformats.org/drawingml/2006/main">
            <a:off x="4305300" y="2057400"/>
            <a:ext cx="3333750" cy="32766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0" name="method-accent-1">
            <a:extLst xmlns:a="http://schemas.openxmlformats.org/drawingml/2006/main">
              <a:ext uri="{FF2B5EF4-FFF2-40B4-BE49-F238E27FC236}">
                <a16:creationId xmlns:a16="http://schemas.microsoft.com/office/drawing/2014/main" id="{9E6195D2-D86D-486A-BC31-84ED25C217C7}"/>
              </a:ext>
            </a:extLst>
          </p:cNvPr>
          <p:cNvSpPr>
            <a:spLocks xmlns:a="http://schemas.openxmlformats.org/drawingml/2006/main" noGrp="1"/>
          </p:cNvSpPr>
          <p:nvPr/>
        </p:nvSpPr>
        <p:spPr>
          <a:xfrm xmlns:a="http://schemas.openxmlformats.org/drawingml/2006/main">
            <a:off x="4305300" y="2057400"/>
            <a:ext cx="3333750" cy="85725"/>
          </a:xfrm>
          <a:prstGeom xmlns:a="http://schemas.openxmlformats.org/drawingml/2006/main" prst="rect">
            <a:avLst/>
          </a:prstGeom>
          <a:solidFill xmlns:a="http://schemas.openxmlformats.org/drawingml/2006/main">
            <a:srgbClr val="1877C9"/>
          </a:solidFill>
          <a:ln xmlns:a="http://schemas.openxmlformats.org/drawingml/2006/main" w="0">
            <a:noFill/>
            <a:prstDash val="solid"/>
          </a:ln>
        </p:spPr>
      </p:sp>
      <p:sp>
        <p:nvSpPr>
          <p:cNvPr id="11" name="method-label-1">
            <a:extLst xmlns:a="http://schemas.openxmlformats.org/drawingml/2006/main">
              <a:ext uri="{FF2B5EF4-FFF2-40B4-BE49-F238E27FC236}">
                <a16:creationId xmlns:a16="http://schemas.microsoft.com/office/drawing/2014/main" id="{86B7AAE4-C596-4DBA-A1EA-D4358277B95A}"/>
              </a:ext>
            </a:extLst>
          </p:cNvPr>
          <p:cNvSpPr>
            <a:spLocks xmlns:a="http://schemas.openxmlformats.org/drawingml/2006/main" noGrp="1"/>
          </p:cNvSpPr>
          <p:nvPr/>
        </p:nvSpPr>
        <p:spPr>
          <a:xfrm xmlns:a="http://schemas.openxmlformats.org/drawingml/2006/main">
            <a:off x="4552950" y="2352675"/>
            <a:ext cx="2819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2  Offer 64 districts</a:t>
            </a:r>
          </a:p>
        </p:txBody>
      </p:sp>
      <p:sp>
        <p:nvSpPr>
          <p:cNvPr id="12" name="method-copy-1">
            <a:extLst xmlns:a="http://schemas.openxmlformats.org/drawingml/2006/main">
              <a:ext uri="{FF2B5EF4-FFF2-40B4-BE49-F238E27FC236}">
                <a16:creationId xmlns:a16="http://schemas.microsoft.com/office/drawing/2014/main" id="{701B90FE-26A0-4842-893D-14197D0BD7C9}"/>
              </a:ext>
            </a:extLst>
          </p:cNvPr>
          <p:cNvSpPr>
            <a:spLocks xmlns:a="http://schemas.openxmlformats.org/drawingml/2006/main" noGrp="1"/>
          </p:cNvSpPr>
          <p:nvPr/>
        </p:nvSpPr>
        <p:spPr>
          <a:xfrm xmlns:a="http://schemas.openxmlformats.org/drawingml/2006/main">
            <a:off x="4552950" y="3105150"/>
            <a:ext cx="28194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defRPr>
            </a:pPr>
            <a:r>
              <a:rPr sz="1350" b="0">
                <a:solidFill>
                  <a:srgbClr val="556070"/>
                </a:solidFill>
              </a:rPr>
              <a:t>Every Bangladeshi district is a candidate. The baseline uses distance and population; the expanded model adds GIS measures.</a:t>
            </a:r>
          </a:p>
        </p:txBody>
      </p:sp>
      <p:sp>
        <p:nvSpPr>
          <p:cNvPr id="13" name="method-panel-2">
            <a:extLst xmlns:a="http://schemas.openxmlformats.org/drawingml/2006/main">
              <a:ext uri="{FF2B5EF4-FFF2-40B4-BE49-F238E27FC236}">
                <a16:creationId xmlns:a16="http://schemas.microsoft.com/office/drawing/2014/main" id="{D2252161-D410-4493-91AE-E99D4A7D22A9}"/>
              </a:ext>
            </a:extLst>
          </p:cNvPr>
          <p:cNvSpPr>
            <a:spLocks xmlns:a="http://schemas.openxmlformats.org/drawingml/2006/main" noGrp="1"/>
          </p:cNvSpPr>
          <p:nvPr/>
        </p:nvSpPr>
        <p:spPr>
          <a:xfrm xmlns:a="http://schemas.openxmlformats.org/drawingml/2006/main">
            <a:off x="8115300" y="2057400"/>
            <a:ext cx="3333750" cy="32766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4" name="method-accent-2">
            <a:extLst xmlns:a="http://schemas.openxmlformats.org/drawingml/2006/main">
              <a:ext uri="{FF2B5EF4-FFF2-40B4-BE49-F238E27FC236}">
                <a16:creationId xmlns:a16="http://schemas.microsoft.com/office/drawing/2014/main" id="{C593B851-EC5B-49E0-B965-9AAC6F2830FA}"/>
              </a:ext>
            </a:extLst>
          </p:cNvPr>
          <p:cNvSpPr>
            <a:spLocks xmlns:a="http://schemas.openxmlformats.org/drawingml/2006/main" noGrp="1"/>
          </p:cNvSpPr>
          <p:nvPr/>
        </p:nvSpPr>
        <p:spPr>
          <a:xfrm xmlns:a="http://schemas.openxmlformats.org/drawingml/2006/main">
            <a:off x="8115300" y="2057400"/>
            <a:ext cx="3333750" cy="85725"/>
          </a:xfrm>
          <a:prstGeom xmlns:a="http://schemas.openxmlformats.org/drawingml/2006/main" prst="rect">
            <a:avLst/>
          </a:prstGeom>
          <a:solidFill xmlns:a="http://schemas.openxmlformats.org/drawingml/2006/main">
            <a:srgbClr val="147D64"/>
          </a:solidFill>
          <a:ln xmlns:a="http://schemas.openxmlformats.org/drawingml/2006/main" w="0">
            <a:noFill/>
            <a:prstDash val="solid"/>
          </a:ln>
        </p:spPr>
      </p:sp>
      <p:sp>
        <p:nvSpPr>
          <p:cNvPr id="15" name="method-label-2">
            <a:extLst xmlns:a="http://schemas.openxmlformats.org/drawingml/2006/main">
              <a:ext uri="{FF2B5EF4-FFF2-40B4-BE49-F238E27FC236}">
                <a16:creationId xmlns:a16="http://schemas.microsoft.com/office/drawing/2014/main" id="{6D6C3CDF-9939-4F70-A3AD-0F405743B03D}"/>
              </a:ext>
            </a:extLst>
          </p:cNvPr>
          <p:cNvSpPr>
            <a:spLocks xmlns:a="http://schemas.openxmlformats.org/drawingml/2006/main" noGrp="1"/>
          </p:cNvSpPr>
          <p:nvPr/>
        </p:nvSpPr>
        <p:spPr>
          <a:xfrm xmlns:a="http://schemas.openxmlformats.org/drawingml/2006/main">
            <a:off x="8362950" y="2352675"/>
            <a:ext cx="2819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3  Score the choice</a:t>
            </a:r>
          </a:p>
        </p:txBody>
      </p:sp>
      <p:sp>
        <p:nvSpPr>
          <p:cNvPr id="16" name="method-copy-2">
            <a:extLst xmlns:a="http://schemas.openxmlformats.org/drawingml/2006/main">
              <a:ext uri="{FF2B5EF4-FFF2-40B4-BE49-F238E27FC236}">
                <a16:creationId xmlns:a16="http://schemas.microsoft.com/office/drawing/2014/main" id="{ADFB3FAF-1DF6-4DF6-9209-68BA2E4681E2}"/>
              </a:ext>
            </a:extLst>
          </p:cNvPr>
          <p:cNvSpPr>
            <a:spLocks xmlns:a="http://schemas.openxmlformats.org/drawingml/2006/main" noGrp="1"/>
          </p:cNvSpPr>
          <p:nvPr/>
        </p:nvSpPr>
        <p:spPr>
          <a:xfrm xmlns:a="http://schemas.openxmlformats.org/drawingml/2006/main">
            <a:off x="8362950" y="3105150"/>
            <a:ext cx="28194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defRPr>
            </a:pPr>
            <a:r>
              <a:rPr sz="1350" b="0">
                <a:solidFill>
                  <a:srgbClr val="556070"/>
                </a:solidFill>
              </a:rPr>
              <a:t>Grouped cross-validation asks how much probability each model assigns to the destination that was actually chosen.</a:t>
            </a:r>
          </a:p>
        </p:txBody>
      </p:sp>
      <p:sp>
        <p:nvSpPr>
          <p:cNvPr id="17" name="method-footer">
            <a:extLst xmlns:a="http://schemas.openxmlformats.org/drawingml/2006/main">
              <a:ext uri="{FF2B5EF4-FFF2-40B4-BE49-F238E27FC236}">
                <a16:creationId xmlns:a16="http://schemas.microsoft.com/office/drawing/2014/main" id="{DF72C5FD-663E-46A5-B9E4-B53B77CBC1EA}"/>
              </a:ext>
            </a:extLst>
          </p:cNvPr>
          <p:cNvSpPr>
            <a:spLocks xmlns:a="http://schemas.openxmlformats.org/drawingml/2006/main" noGrp="1"/>
          </p:cNvSpPr>
          <p:nvPr/>
        </p:nvSpPr>
        <p:spPr>
          <a:xfrm xmlns:a="http://schemas.openxmlformats.org/drawingml/2006/main">
            <a:off x="4953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11827"/>
                </a:solidFill>
              </a:defRPr>
            </a:pPr>
            <a:r>
              <a:rPr sz="1350" b="1">
                <a:solidFill>
                  <a:srgbClr val="111827"/>
                </a:solidFill>
              </a:rPr>
              <a:t>Households stay in one fold; harder tests also withhold whole origins and a later wave.</a:t>
            </a:r>
          </a:p>
        </p:txBody>
      </p:sp>
    </p:spTree>
    <p:extLst>
      <p:ext uri="{BB962C8B-B14F-4D97-AF65-F5344CB8AC3E}">
        <p14:creationId xmlns:p14="http://schemas.microsoft.com/office/powerpoint/2010/main" val="18172142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kicker-4">
            <a:extLst xmlns:a="http://schemas.openxmlformats.org/drawingml/2006/main">
              <a:ext uri="{FF2B5EF4-FFF2-40B4-BE49-F238E27FC236}">
                <a16:creationId xmlns:a16="http://schemas.microsoft.com/office/drawing/2014/main" id="{D84DC767-481C-4202-8051-8C580AE7061F}"/>
              </a:ext>
            </a:extLst>
          </p:cNvPr>
          <p:cNvSpPr>
            <a:spLocks xmlns:a="http://schemas.openxmlformats.org/drawingml/2006/main" noGrp="1"/>
          </p:cNvSpPr>
          <p:nvPr/>
        </p:nvSpPr>
        <p:spPr>
          <a:xfrm xmlns:a="http://schemas.openxmlformats.org/drawingml/2006/main">
            <a:off x="495300" y="3238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1877C9"/>
                </a:solidFill>
              </a:defRPr>
            </a:pPr>
            <a:r>
              <a:rPr sz="975" b="1">
                <a:solidFill>
                  <a:srgbClr val="1877C9"/>
                </a:solidFill>
              </a:rPr>
              <a:t>INDEPENDENT REPLICATION</a:t>
            </a:r>
          </a:p>
        </p:txBody>
      </p:sp>
      <p:sp>
        <p:nvSpPr>
          <p:cNvPr id="2" name="title-4">
            <a:extLst xmlns:a="http://schemas.openxmlformats.org/drawingml/2006/main">
              <a:ext uri="{FF2B5EF4-FFF2-40B4-BE49-F238E27FC236}">
                <a16:creationId xmlns:a16="http://schemas.microsoft.com/office/drawing/2014/main" id="{FABD6C99-A6B5-4922-80D3-2FE3D8516F7F}"/>
              </a:ext>
            </a:extLst>
          </p:cNvPr>
          <p:cNvSpPr>
            <a:spLocks xmlns:a="http://schemas.openxmlformats.org/drawingml/2006/main" noGrp="1"/>
          </p:cNvSpPr>
          <p:nvPr/>
        </p:nvSpPr>
        <p:spPr>
          <a:xfrm xmlns:a="http://schemas.openxmlformats.org/drawingml/2006/main">
            <a:off x="495300" y="666750"/>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11827"/>
                </a:solidFill>
              </a:defRPr>
            </a:pPr>
            <a:r>
              <a:rPr sz="2850" b="1">
                <a:solidFill>
                  <a:srgbClr val="111827"/>
                </a:solidFill>
              </a:rPr>
              <a:t>The BIHS result survives unseen origins and a later wave</a:t>
            </a:r>
          </a:p>
        </p:txBody>
      </p:sp>
      <p:sp>
        <p:nvSpPr>
          <p:cNvPr id="3" name="header-rule-4">
            <a:extLst xmlns:a="http://schemas.openxmlformats.org/drawingml/2006/main">
              <a:ext uri="{FF2B5EF4-FFF2-40B4-BE49-F238E27FC236}">
                <a16:creationId xmlns:a16="http://schemas.microsoft.com/office/drawing/2014/main" id="{1E4D4509-325A-4AA7-92F3-C1767DE0E563}"/>
              </a:ext>
            </a:extLst>
          </p:cNvPr>
          <p:cNvSpPr>
            <a:spLocks xmlns:a="http://schemas.openxmlformats.org/drawingml/2006/main" noGrp="1"/>
          </p:cNvSpPr>
          <p:nvPr/>
        </p:nvSpPr>
        <p:spPr>
          <a:xfrm xmlns:a="http://schemas.openxmlformats.org/drawingml/2006/main">
            <a:off x="495300" y="1438275"/>
            <a:ext cx="11201400" cy="190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4" name="number-4">
            <a:extLst xmlns:a="http://schemas.openxmlformats.org/drawingml/2006/main">
              <a:ext uri="{FF2B5EF4-FFF2-40B4-BE49-F238E27FC236}">
                <a16:creationId xmlns:a16="http://schemas.microsoft.com/office/drawing/2014/main" id="{F05E3FB8-6C64-4205-ACD0-1698980556CE}"/>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04</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5575bee5bc2433b"/>
          <a:stretch xmlns:a="http://schemas.openxmlformats.org/drawingml/2006/main"/>
        </p:blipFill>
        <p:spPr>
          <a:xfrm xmlns:a="http://schemas.openxmlformats.org/drawingml/2006/main">
            <a:off x="495300" y="1709457"/>
            <a:ext cx="7239000" cy="4258235"/>
          </a:xfrm>
          <a:prstGeom xmlns:a="http://schemas.openxmlformats.org/drawingml/2006/main" prst="rect">
            <a:avLst/>
          </a:prstGeom>
        </p:spPr>
      </p:pic>
      <p:sp>
        <p:nvSpPr>
          <p:cNvPr id="6" name="result-rail">
            <a:extLst xmlns:a="http://schemas.openxmlformats.org/drawingml/2006/main">
              <a:ext uri="{FF2B5EF4-FFF2-40B4-BE49-F238E27FC236}">
                <a16:creationId xmlns:a16="http://schemas.microsoft.com/office/drawing/2014/main" id="{20E856CB-F67F-4C54-9B90-FEAD6309BE1A}"/>
              </a:ext>
            </a:extLst>
          </p:cNvPr>
          <p:cNvSpPr>
            <a:spLocks xmlns:a="http://schemas.openxmlformats.org/drawingml/2006/main" noGrp="1"/>
          </p:cNvSpPr>
          <p:nvPr/>
        </p:nvSpPr>
        <p:spPr>
          <a:xfrm xmlns:a="http://schemas.openxmlformats.org/drawingml/2006/main">
            <a:off x="8096250" y="1809750"/>
            <a:ext cx="3600450" cy="37147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result-stat-1">
            <a:extLst xmlns:a="http://schemas.openxmlformats.org/drawingml/2006/main">
              <a:ext uri="{FF2B5EF4-FFF2-40B4-BE49-F238E27FC236}">
                <a16:creationId xmlns:a16="http://schemas.microsoft.com/office/drawing/2014/main" id="{B93EAF3E-C820-4364-A444-6063515C63E7}"/>
              </a:ext>
            </a:extLst>
          </p:cNvPr>
          <p:cNvSpPr>
            <a:spLocks xmlns:a="http://schemas.openxmlformats.org/drawingml/2006/main" noGrp="1"/>
          </p:cNvSpPr>
          <p:nvPr/>
        </p:nvSpPr>
        <p:spPr>
          <a:xfrm xmlns:a="http://schemas.openxmlformats.org/drawingml/2006/main">
            <a:off x="8382000" y="22098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877C9"/>
                </a:solidFill>
              </a:defRPr>
            </a:pPr>
            <a:r>
              <a:rPr sz="2850" b="1">
                <a:solidFill>
                  <a:srgbClr val="1877C9"/>
                </a:solidFill>
              </a:rPr>
              <a:t>+0.101</a:t>
            </a:r>
          </a:p>
        </p:txBody>
      </p:sp>
      <p:sp>
        <p:nvSpPr>
          <p:cNvPr id="8" name="result-desc-1">
            <a:extLst xmlns:a="http://schemas.openxmlformats.org/drawingml/2006/main">
              <a:ext uri="{FF2B5EF4-FFF2-40B4-BE49-F238E27FC236}">
                <a16:creationId xmlns:a16="http://schemas.microsoft.com/office/drawing/2014/main" id="{A04A86F5-74BE-4E9B-A639-070E7196740A}"/>
              </a:ext>
            </a:extLst>
          </p:cNvPr>
          <p:cNvSpPr>
            <a:spLocks xmlns:a="http://schemas.openxmlformats.org/drawingml/2006/main" noGrp="1"/>
          </p:cNvSpPr>
          <p:nvPr/>
        </p:nvSpPr>
        <p:spPr>
          <a:xfrm xmlns:a="http://schemas.openxmlformats.org/drawingml/2006/main">
            <a:off x="8382000" y="2876550"/>
            <a:ext cx="2952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defRPr>
            </a:pPr>
            <a:r>
              <a:rPr sz="1350" b="0">
                <a:solidFill>
                  <a:srgbClr val="556070"/>
                </a:solidFill>
              </a:rPr>
              <a:t>Leave one origin out</a:t>
            </a:r>
          </a:p>
          <a:p xmlns:a="http://schemas.openxmlformats.org/drawingml/2006/main">
            <a:pPr algn="l">
              <a:defRPr sz="1350" b="0">
                <a:solidFill>
                  <a:srgbClr val="556070"/>
                </a:solidFill>
              </a:defRPr>
            </a:pPr>
            <a:r>
              <a:rPr sz="1350" b="0">
                <a:solidFill>
                  <a:srgbClr val="556070"/>
                </a:solidFill>
              </a:rPr>
              <a:t>1,857 BIHS migrants</a:t>
            </a:r>
          </a:p>
        </p:txBody>
      </p:sp>
      <p:sp>
        <p:nvSpPr>
          <p:cNvPr id="9" name="result-rule">
            <a:extLst xmlns:a="http://schemas.openxmlformats.org/drawingml/2006/main">
              <a:ext uri="{FF2B5EF4-FFF2-40B4-BE49-F238E27FC236}">
                <a16:creationId xmlns:a16="http://schemas.microsoft.com/office/drawing/2014/main" id="{14E9D1B7-87D2-45C0-A91C-013012C1A772}"/>
              </a:ext>
            </a:extLst>
          </p:cNvPr>
          <p:cNvSpPr>
            <a:spLocks xmlns:a="http://schemas.openxmlformats.org/drawingml/2006/main" noGrp="1"/>
          </p:cNvSpPr>
          <p:nvPr/>
        </p:nvSpPr>
        <p:spPr>
          <a:xfrm xmlns:a="http://schemas.openxmlformats.org/drawingml/2006/main">
            <a:off x="8382000" y="3714750"/>
            <a:ext cx="2724150" cy="19050"/>
          </a:xfrm>
          <a:prstGeom xmlns:a="http://schemas.openxmlformats.org/drawingml/2006/main" prst="rect">
            <a:avLst/>
          </a:prstGeom>
          <a:solidFill xmlns:a="http://schemas.openxmlformats.org/drawingml/2006/main">
            <a:srgbClr val="CBD1D9"/>
          </a:solidFill>
          <a:ln xmlns:a="http://schemas.openxmlformats.org/drawingml/2006/main" w="0">
            <a:noFill/>
            <a:prstDash val="solid"/>
          </a:ln>
        </p:spPr>
      </p:sp>
      <p:sp>
        <p:nvSpPr>
          <p:cNvPr id="10" name="result-stat-2">
            <a:extLst xmlns:a="http://schemas.openxmlformats.org/drawingml/2006/main">
              <a:ext uri="{FF2B5EF4-FFF2-40B4-BE49-F238E27FC236}">
                <a16:creationId xmlns:a16="http://schemas.microsoft.com/office/drawing/2014/main" id="{A4977E5E-AD64-4359-A69C-72B01FA109AE}"/>
              </a:ext>
            </a:extLst>
          </p:cNvPr>
          <p:cNvSpPr>
            <a:spLocks xmlns:a="http://schemas.openxmlformats.org/drawingml/2006/main" noGrp="1"/>
          </p:cNvSpPr>
          <p:nvPr/>
        </p:nvSpPr>
        <p:spPr>
          <a:xfrm xmlns:a="http://schemas.openxmlformats.org/drawingml/2006/main">
            <a:off x="8382000" y="40195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47D64"/>
                </a:solidFill>
              </a:defRPr>
            </a:pPr>
            <a:r>
              <a:rPr sz="2850" b="1">
                <a:solidFill>
                  <a:srgbClr val="147D64"/>
                </a:solidFill>
              </a:rPr>
              <a:t>+0.094</a:t>
            </a:r>
          </a:p>
        </p:txBody>
      </p:sp>
      <p:sp>
        <p:nvSpPr>
          <p:cNvPr id="11" name="result-desc-2">
            <a:extLst xmlns:a="http://schemas.openxmlformats.org/drawingml/2006/main">
              <a:ext uri="{FF2B5EF4-FFF2-40B4-BE49-F238E27FC236}">
                <a16:creationId xmlns:a16="http://schemas.microsoft.com/office/drawing/2014/main" id="{7D15F0F9-67B8-4CDF-9277-0FAB0F087B5E}"/>
              </a:ext>
            </a:extLst>
          </p:cNvPr>
          <p:cNvSpPr>
            <a:spLocks xmlns:a="http://schemas.openxmlformats.org/drawingml/2006/main" noGrp="1"/>
          </p:cNvSpPr>
          <p:nvPr/>
        </p:nvSpPr>
        <p:spPr>
          <a:xfrm xmlns:a="http://schemas.openxmlformats.org/drawingml/2006/main">
            <a:off x="8382000" y="4686300"/>
            <a:ext cx="2952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defRPr>
            </a:pPr>
            <a:r>
              <a:rPr sz="1350" b="0">
                <a:solidFill>
                  <a:srgbClr val="556070"/>
                </a:solidFill>
              </a:rPr>
              <a:t>Train 2015, test 2018–19</a:t>
            </a:r>
          </a:p>
          <a:p xmlns:a="http://schemas.openxmlformats.org/drawingml/2006/main">
            <a:pPr algn="l">
              <a:defRPr sz="1350" b="0">
                <a:solidFill>
                  <a:srgbClr val="556070"/>
                </a:solidFill>
              </a:defRPr>
            </a:pPr>
            <a:r>
              <a:rPr sz="1350" b="0">
                <a:solidFill>
                  <a:srgbClr val="556070"/>
                </a:solidFill>
              </a:rPr>
              <a:t>1,383 later-wave migrants</a:t>
            </a:r>
          </a:p>
        </p:txBody>
      </p:sp>
      <p:sp>
        <p:nvSpPr>
          <p:cNvPr id="12" name="result-note">
            <a:extLst xmlns:a="http://schemas.openxmlformats.org/drawingml/2006/main">
              <a:ext uri="{FF2B5EF4-FFF2-40B4-BE49-F238E27FC236}">
                <a16:creationId xmlns:a16="http://schemas.microsoft.com/office/drawing/2014/main" id="{470FBCEA-A849-4985-A5D1-81DE49B822C2}"/>
              </a:ext>
            </a:extLst>
          </p:cNvPr>
          <p:cNvSpPr>
            <a:spLocks xmlns:a="http://schemas.openxmlformats.org/drawingml/2006/main" noGrp="1"/>
          </p:cNvSpPr>
          <p:nvPr/>
        </p:nvSpPr>
        <p:spPr>
          <a:xfrm xmlns:a="http://schemas.openxmlformats.org/drawingml/2006/main">
            <a:off x="8096250" y="5743575"/>
            <a:ext cx="3600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0">
                <a:solidFill>
                  <a:srgbClr val="556070"/>
                </a:solidFill>
              </a:defRPr>
            </a:pPr>
            <a:r>
              <a:rPr sz="1050" b="0">
                <a:solidFill>
                  <a:srgbClr val="556070"/>
                </a:solidFill>
              </a:rPr>
              <a:t>Held-out log-loss improvement over fitted gravity. Positive values favor GIS.</a:t>
            </a:r>
          </a:p>
        </p:txBody>
      </p:sp>
    </p:spTree>
    <p:extLst>
      <p:ext uri="{BB962C8B-B14F-4D97-AF65-F5344CB8AC3E}">
        <p14:creationId xmlns:p14="http://schemas.microsoft.com/office/powerpoint/2010/main" val="2412841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kicker-5">
            <a:extLst xmlns:a="http://schemas.openxmlformats.org/drawingml/2006/main">
              <a:ext uri="{FF2B5EF4-FFF2-40B4-BE49-F238E27FC236}">
                <a16:creationId xmlns:a16="http://schemas.microsoft.com/office/drawing/2014/main" id="{9852AA71-C249-4EF5-9865-753DE544F1DA}"/>
              </a:ext>
            </a:extLst>
          </p:cNvPr>
          <p:cNvSpPr>
            <a:spLocks xmlns:a="http://schemas.openxmlformats.org/drawingml/2006/main" noGrp="1"/>
          </p:cNvSpPr>
          <p:nvPr/>
        </p:nvSpPr>
        <p:spPr>
          <a:xfrm xmlns:a="http://schemas.openxmlformats.org/drawingml/2006/main">
            <a:off x="495300" y="3238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1877C9"/>
                </a:solidFill>
              </a:defRPr>
            </a:pPr>
            <a:r>
              <a:rPr sz="975" b="1">
                <a:solidFill>
                  <a:srgbClr val="1877C9"/>
                </a:solidFill>
              </a:rPr>
              <a:t>CLIMATE-SPECIFIC EVIDENCE</a:t>
            </a:r>
          </a:p>
        </p:txBody>
      </p:sp>
      <p:sp>
        <p:nvSpPr>
          <p:cNvPr id="2" name="title-5">
            <a:extLst xmlns:a="http://schemas.openxmlformats.org/drawingml/2006/main">
              <a:ext uri="{FF2B5EF4-FFF2-40B4-BE49-F238E27FC236}">
                <a16:creationId xmlns:a16="http://schemas.microsoft.com/office/drawing/2014/main" id="{37D4D130-B1FF-4CB0-90F9-FA97189E4FB3}"/>
              </a:ext>
            </a:extLst>
          </p:cNvPr>
          <p:cNvSpPr>
            <a:spLocks xmlns:a="http://schemas.openxmlformats.org/drawingml/2006/main" noGrp="1"/>
          </p:cNvSpPr>
          <p:nvPr/>
        </p:nvSpPr>
        <p:spPr>
          <a:xfrm xmlns:a="http://schemas.openxmlformats.org/drawingml/2006/main">
            <a:off x="495300" y="666750"/>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11827"/>
                </a:solidFill>
              </a:defRPr>
            </a:pPr>
            <a:r>
              <a:rPr sz="2850" b="1">
                <a:solidFill>
                  <a:srgbClr val="111827"/>
                </a:solidFill>
              </a:rPr>
              <a:t>Two climate samples reproduce the grouped gain</a:t>
            </a:r>
          </a:p>
        </p:txBody>
      </p:sp>
      <p:sp>
        <p:nvSpPr>
          <p:cNvPr id="3" name="header-rule-5">
            <a:extLst xmlns:a="http://schemas.openxmlformats.org/drawingml/2006/main">
              <a:ext uri="{FF2B5EF4-FFF2-40B4-BE49-F238E27FC236}">
                <a16:creationId xmlns:a16="http://schemas.microsoft.com/office/drawing/2014/main" id="{3A72386C-33F7-4182-A8B0-45448A0E1AD3}"/>
              </a:ext>
            </a:extLst>
          </p:cNvPr>
          <p:cNvSpPr>
            <a:spLocks xmlns:a="http://schemas.openxmlformats.org/drawingml/2006/main" noGrp="1"/>
          </p:cNvSpPr>
          <p:nvPr/>
        </p:nvSpPr>
        <p:spPr>
          <a:xfrm xmlns:a="http://schemas.openxmlformats.org/drawingml/2006/main">
            <a:off x="495300" y="1438275"/>
            <a:ext cx="11201400" cy="190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4" name="number-5">
            <a:extLst xmlns:a="http://schemas.openxmlformats.org/drawingml/2006/main">
              <a:ext uri="{FF2B5EF4-FFF2-40B4-BE49-F238E27FC236}">
                <a16:creationId xmlns:a16="http://schemas.microsoft.com/office/drawing/2014/main" id="{8ED75F91-E8DB-4E34-9356-3C8C31862E1B}"/>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05</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d01dc3e1d2b4062"/>
          <a:stretch xmlns:a="http://schemas.openxmlformats.org/drawingml/2006/main"/>
        </p:blipFill>
        <p:spPr>
          <a:xfrm xmlns:a="http://schemas.openxmlformats.org/drawingml/2006/main">
            <a:off x="752798" y="1714500"/>
            <a:ext cx="6247754" cy="4095750"/>
          </a:xfrm>
          <a:prstGeom xmlns:a="http://schemas.openxmlformats.org/drawingml/2006/main" prst="rect">
            <a:avLst/>
          </a:prstGeom>
        </p:spPr>
      </p:pic>
      <p:sp>
        <p:nvSpPr>
          <p:cNvPr id="6" name="validation-head">
            <a:extLst xmlns:a="http://schemas.openxmlformats.org/drawingml/2006/main">
              <a:ext uri="{FF2B5EF4-FFF2-40B4-BE49-F238E27FC236}">
                <a16:creationId xmlns:a16="http://schemas.microsoft.com/office/drawing/2014/main" id="{573AEA07-98F7-412F-BAFE-BEAD7DF7133A}"/>
              </a:ext>
            </a:extLst>
          </p:cNvPr>
          <p:cNvSpPr>
            <a:spLocks xmlns:a="http://schemas.openxmlformats.org/drawingml/2006/main" noGrp="1"/>
          </p:cNvSpPr>
          <p:nvPr/>
        </p:nvSpPr>
        <p:spPr>
          <a:xfrm xmlns:a="http://schemas.openxmlformats.org/drawingml/2006/main">
            <a:off x="7810500" y="195262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Same model, different surveys</a:t>
            </a:r>
          </a:p>
        </p:txBody>
      </p:sp>
      <p:sp>
        <p:nvSpPr>
          <p:cNvPr id="7" name="validation-blue">
            <a:extLst xmlns:a="http://schemas.openxmlformats.org/drawingml/2006/main">
              <a:ext uri="{FF2B5EF4-FFF2-40B4-BE49-F238E27FC236}">
                <a16:creationId xmlns:a16="http://schemas.microsoft.com/office/drawing/2014/main" id="{A0753A9D-15D5-43DD-AF06-32279B2D7434}"/>
              </a:ext>
            </a:extLst>
          </p:cNvPr>
          <p:cNvSpPr>
            <a:spLocks xmlns:a="http://schemas.openxmlformats.org/drawingml/2006/main" noGrp="1"/>
          </p:cNvSpPr>
          <p:nvPr/>
        </p:nvSpPr>
        <p:spPr>
          <a:xfrm xmlns:a="http://schemas.openxmlformats.org/drawingml/2006/main">
            <a:off x="7810500" y="2619375"/>
            <a:ext cx="133350" cy="1000125"/>
          </a:xfrm>
          <a:prstGeom xmlns:a="http://schemas.openxmlformats.org/drawingml/2006/main" prst="rect">
            <a:avLst/>
          </a:prstGeom>
          <a:solidFill xmlns:a="http://schemas.openxmlformats.org/drawingml/2006/main">
            <a:srgbClr val="1877C9"/>
          </a:solidFill>
          <a:ln xmlns:a="http://schemas.openxmlformats.org/drawingml/2006/main" w="0">
            <a:noFill/>
            <a:prstDash val="solid"/>
          </a:ln>
        </p:spPr>
      </p:sp>
      <p:sp>
        <p:nvSpPr>
          <p:cNvPr id="8" name="validation-good">
            <a:extLst xmlns:a="http://schemas.openxmlformats.org/drawingml/2006/main">
              <a:ext uri="{FF2B5EF4-FFF2-40B4-BE49-F238E27FC236}">
                <a16:creationId xmlns:a16="http://schemas.microsoft.com/office/drawing/2014/main" id="{342BC1BA-B916-4696-A3F7-9EA914371B01}"/>
              </a:ext>
            </a:extLst>
          </p:cNvPr>
          <p:cNvSpPr>
            <a:spLocks xmlns:a="http://schemas.openxmlformats.org/drawingml/2006/main" noGrp="1"/>
          </p:cNvSpPr>
          <p:nvPr/>
        </p:nvSpPr>
        <p:spPr>
          <a:xfrm xmlns:a="http://schemas.openxmlformats.org/drawingml/2006/main">
            <a:off x="8172450" y="2571750"/>
            <a:ext cx="3143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111827"/>
                </a:solidFill>
              </a:defRPr>
            </a:pPr>
            <a:r>
              <a:rPr sz="1425" b="0">
                <a:solidFill>
                  <a:srgbClr val="111827"/>
                </a:solidFill>
              </a:rPr>
              <a:t>BIHS erosion moves: +0.098 across 123 relocations from 29 origins.</a:t>
            </a:r>
          </a:p>
        </p:txBody>
      </p:sp>
      <p:sp>
        <p:nvSpPr>
          <p:cNvPr id="9" name="validation-orange">
            <a:extLst xmlns:a="http://schemas.openxmlformats.org/drawingml/2006/main">
              <a:ext uri="{FF2B5EF4-FFF2-40B4-BE49-F238E27FC236}">
                <a16:creationId xmlns:a16="http://schemas.microsoft.com/office/drawing/2014/main" id="{4064FBD9-B662-4297-84B9-EA45A9AC403E}"/>
              </a:ext>
            </a:extLst>
          </p:cNvPr>
          <p:cNvSpPr>
            <a:spLocks xmlns:a="http://schemas.openxmlformats.org/drawingml/2006/main" noGrp="1"/>
          </p:cNvSpPr>
          <p:nvPr/>
        </p:nvSpPr>
        <p:spPr>
          <a:xfrm xmlns:a="http://schemas.openxmlformats.org/drawingml/2006/main">
            <a:off x="7810500" y="4143375"/>
            <a:ext cx="133350" cy="1000125"/>
          </a:xfrm>
          <a:prstGeom xmlns:a="http://schemas.openxmlformats.org/drawingml/2006/main" prst="rect">
            <a:avLst/>
          </a:prstGeom>
          <a:solidFill xmlns:a="http://schemas.openxmlformats.org/drawingml/2006/main">
            <a:srgbClr val="C66A15"/>
          </a:solidFill>
          <a:ln xmlns:a="http://schemas.openxmlformats.org/drawingml/2006/main" w="0">
            <a:noFill/>
            <a:prstDash val="solid"/>
          </a:ln>
        </p:spPr>
      </p:sp>
      <p:sp>
        <p:nvSpPr>
          <p:cNvPr id="10" name="validation-caution">
            <a:extLst xmlns:a="http://schemas.openxmlformats.org/drawingml/2006/main">
              <a:ext uri="{FF2B5EF4-FFF2-40B4-BE49-F238E27FC236}">
                <a16:creationId xmlns:a16="http://schemas.microsoft.com/office/drawing/2014/main" id="{DA8D897A-29D5-45F7-B91C-91C497B0EC1D}"/>
              </a:ext>
            </a:extLst>
          </p:cNvPr>
          <p:cNvSpPr>
            <a:spLocks xmlns:a="http://schemas.openxmlformats.org/drawingml/2006/main" noGrp="1"/>
          </p:cNvSpPr>
          <p:nvPr/>
        </p:nvSpPr>
        <p:spPr>
          <a:xfrm xmlns:a="http://schemas.openxmlformats.org/drawingml/2006/main">
            <a:off x="8172450" y="4095750"/>
            <a:ext cx="3143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111827"/>
                </a:solidFill>
              </a:defRPr>
            </a:pPr>
            <a:r>
              <a:rPr sz="1425" b="0">
                <a:solidFill>
                  <a:srgbClr val="111827"/>
                </a:solidFill>
              </a:rPr>
              <a:t>BEMP shock-linked moves: +0.108 across 184 later relocations from 7 origins.</a:t>
            </a:r>
          </a:p>
        </p:txBody>
      </p:sp>
    </p:spTree>
    <p:extLst>
      <p:ext uri="{BB962C8B-B14F-4D97-AF65-F5344CB8AC3E}">
        <p14:creationId xmlns:p14="http://schemas.microsoft.com/office/powerpoint/2010/main" val="9581674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kicker-6">
            <a:extLst xmlns:a="http://schemas.openxmlformats.org/drawingml/2006/main">
              <a:ext uri="{FF2B5EF4-FFF2-40B4-BE49-F238E27FC236}">
                <a16:creationId xmlns:a16="http://schemas.microsoft.com/office/drawing/2014/main" id="{3D2C7226-E098-41DD-97A1-8D831AAD6454}"/>
              </a:ext>
            </a:extLst>
          </p:cNvPr>
          <p:cNvSpPr>
            <a:spLocks xmlns:a="http://schemas.openxmlformats.org/drawingml/2006/main" noGrp="1"/>
          </p:cNvSpPr>
          <p:nvPr/>
        </p:nvSpPr>
        <p:spPr>
          <a:xfrm xmlns:a="http://schemas.openxmlformats.org/drawingml/2006/main">
            <a:off x="495300" y="3238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1877C9"/>
                </a:solidFill>
              </a:defRPr>
            </a:pPr>
            <a:r>
              <a:rPr sz="975" b="1">
                <a:solidFill>
                  <a:srgbClr val="1877C9"/>
                </a:solidFill>
              </a:rPr>
              <a:t>WHAT THIS STUDY CANNOT YET ANSWER</a:t>
            </a:r>
          </a:p>
        </p:txBody>
      </p:sp>
      <p:sp>
        <p:nvSpPr>
          <p:cNvPr id="2" name="title-6">
            <a:extLst xmlns:a="http://schemas.openxmlformats.org/drawingml/2006/main">
              <a:ext uri="{FF2B5EF4-FFF2-40B4-BE49-F238E27FC236}">
                <a16:creationId xmlns:a16="http://schemas.microsoft.com/office/drawing/2014/main" id="{BEE6FDC4-0C24-4408-AC75-58164960E701}"/>
              </a:ext>
            </a:extLst>
          </p:cNvPr>
          <p:cNvSpPr>
            <a:spLocks xmlns:a="http://schemas.openxmlformats.org/drawingml/2006/main" noGrp="1"/>
          </p:cNvSpPr>
          <p:nvPr/>
        </p:nvSpPr>
        <p:spPr>
          <a:xfrm xmlns:a="http://schemas.openxmlformats.org/drawingml/2006/main">
            <a:off x="495300" y="666750"/>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111827"/>
                </a:solidFill>
              </a:defRPr>
            </a:pPr>
            <a:r>
              <a:rPr sz="2850" b="1">
                <a:solidFill>
                  <a:srgbClr val="111827"/>
                </a:solidFill>
              </a:rPr>
              <a:t>The result sharpens the next measurement problem</a:t>
            </a:r>
          </a:p>
        </p:txBody>
      </p:sp>
      <p:sp>
        <p:nvSpPr>
          <p:cNvPr id="3" name="header-rule-6">
            <a:extLst xmlns:a="http://schemas.openxmlformats.org/drawingml/2006/main">
              <a:ext uri="{FF2B5EF4-FFF2-40B4-BE49-F238E27FC236}">
                <a16:creationId xmlns:a16="http://schemas.microsoft.com/office/drawing/2014/main" id="{E7BAB5C7-78AD-468E-A51F-226A36A116B0}"/>
              </a:ext>
            </a:extLst>
          </p:cNvPr>
          <p:cNvSpPr>
            <a:spLocks xmlns:a="http://schemas.openxmlformats.org/drawingml/2006/main" noGrp="1"/>
          </p:cNvSpPr>
          <p:nvPr/>
        </p:nvSpPr>
        <p:spPr>
          <a:xfrm xmlns:a="http://schemas.openxmlformats.org/drawingml/2006/main">
            <a:off x="495300" y="1438275"/>
            <a:ext cx="11201400" cy="1905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4" name="number-6">
            <a:extLst xmlns:a="http://schemas.openxmlformats.org/drawingml/2006/main">
              <a:ext uri="{FF2B5EF4-FFF2-40B4-BE49-F238E27FC236}">
                <a16:creationId xmlns:a16="http://schemas.microsoft.com/office/drawing/2014/main" id="{4FC1ED5D-5AB1-4022-BB0E-5453575A44FD}"/>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556070"/>
                </a:solidFill>
              </a:defRPr>
            </a:pPr>
            <a:r>
              <a:rPr sz="825" b="0">
                <a:solidFill>
                  <a:srgbClr val="556070"/>
                </a:solidFill>
              </a:rPr>
              <a:t>06</a:t>
            </a:r>
          </a:p>
        </p:txBody>
      </p:sp>
      <p:sp>
        <p:nvSpPr>
          <p:cNvPr id="5" name="limits-lead">
            <a:extLst xmlns:a="http://schemas.openxmlformats.org/drawingml/2006/main">
              <a:ext uri="{FF2B5EF4-FFF2-40B4-BE49-F238E27FC236}">
                <a16:creationId xmlns:a16="http://schemas.microsoft.com/office/drawing/2014/main" id="{BE123AD4-948B-462B-BBF7-B13252E71A5D}"/>
              </a:ext>
            </a:extLst>
          </p:cNvPr>
          <p:cNvSpPr>
            <a:spLocks xmlns:a="http://schemas.openxmlformats.org/drawingml/2006/main" noGrp="1"/>
          </p:cNvSpPr>
          <p:nvPr/>
        </p:nvSpPr>
        <p:spPr>
          <a:xfrm xmlns:a="http://schemas.openxmlformats.org/drawingml/2006/main">
            <a:off x="495300" y="1790700"/>
            <a:ext cx="10572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11827"/>
                </a:solidFill>
              </a:defRPr>
            </a:pPr>
            <a:r>
              <a:rPr sz="1875" b="1">
                <a:solidFill>
                  <a:srgbClr val="111827"/>
                </a:solidFill>
              </a:rPr>
              <a:t>GIS describes candidate districts before the move. The surveys reveal less about the household-specific ties that made one candidate reachable.</a:t>
            </a:r>
          </a:p>
        </p:txBody>
      </p:sp>
      <p:sp>
        <p:nvSpPr>
          <p:cNvPr id="6" name="limit-panel-0">
            <a:extLst xmlns:a="http://schemas.openxmlformats.org/drawingml/2006/main">
              <a:ext uri="{FF2B5EF4-FFF2-40B4-BE49-F238E27FC236}">
                <a16:creationId xmlns:a16="http://schemas.microsoft.com/office/drawing/2014/main" id="{E6FCBA04-99FB-4483-A2C3-A50F3E094BE4}"/>
              </a:ext>
            </a:extLst>
          </p:cNvPr>
          <p:cNvSpPr>
            <a:spLocks xmlns:a="http://schemas.openxmlformats.org/drawingml/2006/main" noGrp="1"/>
          </p:cNvSpPr>
          <p:nvPr/>
        </p:nvSpPr>
        <p:spPr>
          <a:xfrm xmlns:a="http://schemas.openxmlformats.org/drawingml/2006/main">
            <a:off x="495300" y="3190875"/>
            <a:ext cx="3333750" cy="22860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limit-head-0">
            <a:extLst xmlns:a="http://schemas.openxmlformats.org/drawingml/2006/main">
              <a:ext uri="{FF2B5EF4-FFF2-40B4-BE49-F238E27FC236}">
                <a16:creationId xmlns:a16="http://schemas.microsoft.com/office/drawing/2014/main" id="{0602F98D-1F68-49F0-BB70-F8202AD95DA3}"/>
              </a:ext>
            </a:extLst>
          </p:cNvPr>
          <p:cNvSpPr>
            <a:spLocks xmlns:a="http://schemas.openxmlformats.org/drawingml/2006/main" noGrp="1"/>
          </p:cNvSpPr>
          <p:nvPr/>
        </p:nvSpPr>
        <p:spPr>
          <a:xfrm xmlns:a="http://schemas.openxmlformats.org/drawingml/2006/main">
            <a:off x="723900" y="3467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877C9"/>
                </a:solidFill>
              </a:defRPr>
            </a:pPr>
            <a:r>
              <a:rPr sz="1725" b="1">
                <a:solidFill>
                  <a:srgbClr val="1877C9"/>
                </a:solidFill>
              </a:rPr>
              <a:t>Networks</a:t>
            </a:r>
          </a:p>
        </p:txBody>
      </p:sp>
      <p:sp>
        <p:nvSpPr>
          <p:cNvPr id="8" name="limit-body-0">
            <a:extLst xmlns:a="http://schemas.openxmlformats.org/drawingml/2006/main">
              <a:ext uri="{FF2B5EF4-FFF2-40B4-BE49-F238E27FC236}">
                <a16:creationId xmlns:a16="http://schemas.microsoft.com/office/drawing/2014/main" id="{FA2BEE21-DB58-4304-BFBB-C40932559BFD}"/>
              </a:ext>
            </a:extLst>
          </p:cNvPr>
          <p:cNvSpPr>
            <a:spLocks xmlns:a="http://schemas.openxmlformats.org/drawingml/2006/main" noGrp="1"/>
          </p:cNvSpPr>
          <p:nvPr/>
        </p:nvSpPr>
        <p:spPr>
          <a:xfrm xmlns:a="http://schemas.openxmlformats.org/drawingml/2006/main">
            <a:off x="723900" y="4010025"/>
            <a:ext cx="28765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556070"/>
                </a:solidFill>
              </a:defRPr>
            </a:pPr>
            <a:r>
              <a:rPr sz="1275" b="0">
                <a:solidFill>
                  <a:srgbClr val="556070"/>
                </a:solidFill>
              </a:rPr>
              <a:t>1,815 of 1,857 BIHS interval migrants report friends or family help at destination, but that measure is recorded after the choice.</a:t>
            </a:r>
          </a:p>
        </p:txBody>
      </p:sp>
      <p:sp>
        <p:nvSpPr>
          <p:cNvPr id="9" name="limit-panel-1">
            <a:extLst xmlns:a="http://schemas.openxmlformats.org/drawingml/2006/main">
              <a:ext uri="{FF2B5EF4-FFF2-40B4-BE49-F238E27FC236}">
                <a16:creationId xmlns:a16="http://schemas.microsoft.com/office/drawing/2014/main" id="{2FDE4DDD-EF6C-40E5-B9AC-EA6FAFEB87CA}"/>
              </a:ext>
            </a:extLst>
          </p:cNvPr>
          <p:cNvSpPr>
            <a:spLocks xmlns:a="http://schemas.openxmlformats.org/drawingml/2006/main" noGrp="1"/>
          </p:cNvSpPr>
          <p:nvPr/>
        </p:nvSpPr>
        <p:spPr>
          <a:xfrm xmlns:a="http://schemas.openxmlformats.org/drawingml/2006/main">
            <a:off x="4305300" y="3190875"/>
            <a:ext cx="3333750" cy="22860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0" name="limit-head-1">
            <a:extLst xmlns:a="http://schemas.openxmlformats.org/drawingml/2006/main">
              <a:ext uri="{FF2B5EF4-FFF2-40B4-BE49-F238E27FC236}">
                <a16:creationId xmlns:a16="http://schemas.microsoft.com/office/drawing/2014/main" id="{94E4E855-C8ED-442A-AA0C-36259978982B}"/>
              </a:ext>
            </a:extLst>
          </p:cNvPr>
          <p:cNvSpPr>
            <a:spLocks xmlns:a="http://schemas.openxmlformats.org/drawingml/2006/main" noGrp="1"/>
          </p:cNvSpPr>
          <p:nvPr/>
        </p:nvSpPr>
        <p:spPr>
          <a:xfrm xmlns:a="http://schemas.openxmlformats.org/drawingml/2006/main">
            <a:off x="4533900" y="3467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Resolution</a:t>
            </a:r>
          </a:p>
        </p:txBody>
      </p:sp>
      <p:sp>
        <p:nvSpPr>
          <p:cNvPr id="11" name="limit-body-1">
            <a:extLst xmlns:a="http://schemas.openxmlformats.org/drawingml/2006/main">
              <a:ext uri="{FF2B5EF4-FFF2-40B4-BE49-F238E27FC236}">
                <a16:creationId xmlns:a16="http://schemas.microsoft.com/office/drawing/2014/main" id="{BFC95C5E-04A8-4706-A528-37A93F6F1590}"/>
              </a:ext>
            </a:extLst>
          </p:cNvPr>
          <p:cNvSpPr>
            <a:spLocks xmlns:a="http://schemas.openxmlformats.org/drawingml/2006/main" noGrp="1"/>
          </p:cNvSpPr>
          <p:nvPr/>
        </p:nvSpPr>
        <p:spPr>
          <a:xfrm xmlns:a="http://schemas.openxmlformats.org/drawingml/2006/main">
            <a:off x="4533900" y="4010025"/>
            <a:ext cx="28765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556070"/>
                </a:solidFill>
              </a:defRPr>
            </a:pPr>
            <a:r>
              <a:rPr sz="1275" b="0">
                <a:solidFill>
                  <a:srgbClr val="556070"/>
                </a:solidFill>
              </a:rPr>
              <a:t>Public geography is district-level. The model cannot distinguish neighborhoods, villages, or exact addresses.</a:t>
            </a:r>
          </a:p>
        </p:txBody>
      </p:sp>
      <p:sp>
        <p:nvSpPr>
          <p:cNvPr id="12" name="limit-panel-2">
            <a:extLst xmlns:a="http://schemas.openxmlformats.org/drawingml/2006/main">
              <a:ext uri="{FF2B5EF4-FFF2-40B4-BE49-F238E27FC236}">
                <a16:creationId xmlns:a16="http://schemas.microsoft.com/office/drawing/2014/main" id="{B8BC5DC1-D9E8-4198-84BA-F5AEF276CACC}"/>
              </a:ext>
            </a:extLst>
          </p:cNvPr>
          <p:cNvSpPr>
            <a:spLocks xmlns:a="http://schemas.openxmlformats.org/drawingml/2006/main" noGrp="1"/>
          </p:cNvSpPr>
          <p:nvPr/>
        </p:nvSpPr>
        <p:spPr>
          <a:xfrm xmlns:a="http://schemas.openxmlformats.org/drawingml/2006/main">
            <a:off x="8115300" y="3190875"/>
            <a:ext cx="3333750" cy="228600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3" name="limit-head-2">
            <a:extLst xmlns:a="http://schemas.openxmlformats.org/drawingml/2006/main">
              <a:ext uri="{FF2B5EF4-FFF2-40B4-BE49-F238E27FC236}">
                <a16:creationId xmlns:a16="http://schemas.microsoft.com/office/drawing/2014/main" id="{422A14C8-83F2-4D88-8CA3-7DF9E59C5095}"/>
              </a:ext>
            </a:extLst>
          </p:cNvPr>
          <p:cNvSpPr>
            <a:spLocks xmlns:a="http://schemas.openxmlformats.org/drawingml/2006/main" noGrp="1"/>
          </p:cNvSpPr>
          <p:nvPr/>
        </p:nvSpPr>
        <p:spPr>
          <a:xfrm xmlns:a="http://schemas.openxmlformats.org/drawingml/2006/main">
            <a:off x="8343900" y="3467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11827"/>
                </a:solidFill>
              </a:defRPr>
            </a:pPr>
            <a:r>
              <a:rPr sz="1725" b="1">
                <a:solidFill>
                  <a:srgbClr val="111827"/>
                </a:solidFill>
              </a:rPr>
              <a:t>Interpretation</a:t>
            </a:r>
          </a:p>
        </p:txBody>
      </p:sp>
      <p:sp>
        <p:nvSpPr>
          <p:cNvPr id="14" name="limit-body-2">
            <a:extLst xmlns:a="http://schemas.openxmlformats.org/drawingml/2006/main">
              <a:ext uri="{FF2B5EF4-FFF2-40B4-BE49-F238E27FC236}">
                <a16:creationId xmlns:a16="http://schemas.microsoft.com/office/drawing/2014/main" id="{8CB269B9-321A-4C88-9DD1-20EA7A2019DB}"/>
              </a:ext>
            </a:extLst>
          </p:cNvPr>
          <p:cNvSpPr>
            <a:spLocks xmlns:a="http://schemas.openxmlformats.org/drawingml/2006/main" noGrp="1"/>
          </p:cNvSpPr>
          <p:nvPr/>
        </p:nvSpPr>
        <p:spPr>
          <a:xfrm xmlns:a="http://schemas.openxmlformats.org/drawingml/2006/main">
            <a:off x="8343900" y="4010025"/>
            <a:ext cx="28765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556070"/>
                </a:solidFill>
              </a:defRPr>
            </a:pPr>
            <a:r>
              <a:rPr sz="1275" b="0">
                <a:solidFill>
                  <a:srgbClr val="556070"/>
                </a:solidFill>
              </a:rPr>
              <a:t>These are out-of-sample predictions. They do not identify the causal effect of any single GIS feature.</a:t>
            </a:r>
          </a:p>
        </p:txBody>
      </p:sp>
    </p:spTree>
    <p:extLst>
      <p:ext uri="{BB962C8B-B14F-4D97-AF65-F5344CB8AC3E}">
        <p14:creationId xmlns:p14="http://schemas.microsoft.com/office/powerpoint/2010/main" val="2017803933"/>
      </p:ext>
    </p:extLst>
  </p:cSld>
</p:sld>
</file>

<file path=ppt/slides/slide7.xml><?xml version="1.0" encoding="utf-8"?>
<p:sld xmlns:p="http://schemas.openxmlformats.org/presentationml/2006/main">
  <p:cSld>
    <p:bg>
      <p:bgPr>
        <a:solidFill xmlns:a="http://schemas.openxmlformats.org/drawingml/2006/main">
          <a:srgbClr val="111827"/>
        </a:solidFill>
      </p:bgPr>
    </p:bg>
    <p:spTree>
      <p:nvGrpSpPr>
        <p:cNvPr id="1" name=""/>
        <p:cNvGrpSpPr/>
        <p:nvPr/>
      </p:nvGrpSpPr>
      <p:grpSpPr>
        <a:xfrm xmlns:a="http://schemas.openxmlformats.org/drawingml/2006/main"/>
      </p:grpSpPr>
      <p:sp>
        <p:nvSpPr>
          <p:cNvPr id="7" name="close-kicker">
            <a:extLst xmlns:a="http://schemas.openxmlformats.org/drawingml/2006/main">
              <a:ext uri="{FF2B5EF4-FFF2-40B4-BE49-F238E27FC236}">
                <a16:creationId xmlns:a16="http://schemas.microsoft.com/office/drawing/2014/main" id="{0ED939B1-D5F4-47A9-AAF2-D44C0EAFCE82}"/>
              </a:ext>
            </a:extLst>
          </p:cNvPr>
          <p:cNvSpPr>
            <a:spLocks xmlns:a="http://schemas.openxmlformats.org/drawingml/2006/main" noGrp="1"/>
          </p:cNvSpPr>
          <p:nvPr/>
        </p:nvSpPr>
        <p:spPr>
          <a:xfrm xmlns:a="http://schemas.openxmlformats.org/drawingml/2006/main">
            <a:off x="495300" y="4476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73C7F3"/>
                </a:solidFill>
              </a:defRPr>
            </a:pPr>
            <a:r>
              <a:rPr sz="1050" b="1">
                <a:solidFill>
                  <a:srgbClr val="73C7F3"/>
                </a:solidFill>
              </a:rPr>
              <a:t>WHAT WE NOW KNOW</a:t>
            </a:r>
          </a:p>
        </p:txBody>
      </p:sp>
      <p:sp>
        <p:nvSpPr>
          <p:cNvPr id="2" name="close-title">
            <a:extLst xmlns:a="http://schemas.openxmlformats.org/drawingml/2006/main">
              <a:ext uri="{FF2B5EF4-FFF2-40B4-BE49-F238E27FC236}">
                <a16:creationId xmlns:a16="http://schemas.microsoft.com/office/drawing/2014/main" id="{6AF09CB6-B72E-4CF3-806A-755E910B578C}"/>
              </a:ext>
            </a:extLst>
          </p:cNvPr>
          <p:cNvSpPr>
            <a:spLocks xmlns:a="http://schemas.openxmlformats.org/drawingml/2006/main" noGrp="1"/>
          </p:cNvSpPr>
          <p:nvPr/>
        </p:nvSpPr>
        <p:spPr>
          <a:xfrm xmlns:a="http://schemas.openxmlformats.org/drawingml/2006/main">
            <a:off x="495300" y="1543050"/>
            <a:ext cx="99060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750" b="1">
                <a:solidFill>
                  <a:srgbClr val="FFFFFF"/>
                </a:solidFill>
              </a:defRPr>
            </a:pPr>
            <a:r>
              <a:rPr sz="3750" b="1">
                <a:solidFill>
                  <a:srgbClr val="FFFFFF"/>
                </a:solidFill>
              </a:rPr>
              <a:t>After a climate-linked move, destination geography still matters.</a:t>
            </a:r>
          </a:p>
        </p:txBody>
      </p:sp>
      <p:sp>
        <p:nvSpPr>
          <p:cNvPr id="3" name="close-body">
            <a:extLst xmlns:a="http://schemas.openxmlformats.org/drawingml/2006/main">
              <a:ext uri="{FF2B5EF4-FFF2-40B4-BE49-F238E27FC236}">
                <a16:creationId xmlns:a16="http://schemas.microsoft.com/office/drawing/2014/main" id="{FA891BFA-9D99-4DEB-B933-C9662B90BC21}"/>
              </a:ext>
            </a:extLst>
          </p:cNvPr>
          <p:cNvSpPr>
            <a:spLocks xmlns:a="http://schemas.openxmlformats.org/drawingml/2006/main" noGrp="1"/>
          </p:cNvSpPr>
          <p:nvPr/>
        </p:nvSpPr>
        <p:spPr>
          <a:xfrm xmlns:a="http://schemas.openxmlformats.org/drawingml/2006/main">
            <a:off x="495300" y="3343275"/>
            <a:ext cx="90011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D6DBE2"/>
                </a:solidFill>
              </a:defRPr>
            </a:pPr>
            <a:r>
              <a:rPr sz="1800" b="0">
                <a:solidFill>
                  <a:srgbClr val="D6DBE2"/>
                </a:solidFill>
              </a:rPr>
              <a:t>Distance matters, but it is not enough. Across two public household surveys, the geography of candidate destinations improves prediction of where movers actually go.</a:t>
            </a:r>
          </a:p>
        </p:txBody>
      </p:sp>
      <p:sp>
        <p:nvSpPr>
          <p:cNvPr id="4" name="close-rule">
            <a:extLst xmlns:a="http://schemas.openxmlformats.org/drawingml/2006/main">
              <a:ext uri="{FF2B5EF4-FFF2-40B4-BE49-F238E27FC236}">
                <a16:creationId xmlns:a16="http://schemas.microsoft.com/office/drawing/2014/main" id="{D21FB2B3-41DC-4508-A3CF-8E84CD684D01}"/>
              </a:ext>
            </a:extLst>
          </p:cNvPr>
          <p:cNvSpPr>
            <a:spLocks xmlns:a="http://schemas.openxmlformats.org/drawingml/2006/main" noGrp="1"/>
          </p:cNvSpPr>
          <p:nvPr/>
        </p:nvSpPr>
        <p:spPr>
          <a:xfrm xmlns:a="http://schemas.openxmlformats.org/drawingml/2006/main">
            <a:off x="495300" y="4972050"/>
            <a:ext cx="11201400" cy="19050"/>
          </a:xfrm>
          <a:prstGeom xmlns:a="http://schemas.openxmlformats.org/drawingml/2006/main" prst="rect">
            <a:avLst/>
          </a:prstGeom>
          <a:solidFill xmlns:a="http://schemas.openxmlformats.org/drawingml/2006/main">
            <a:srgbClr val="5A6572"/>
          </a:solidFill>
          <a:ln xmlns:a="http://schemas.openxmlformats.org/drawingml/2006/main" w="0">
            <a:noFill/>
            <a:prstDash val="solid"/>
          </a:ln>
        </p:spPr>
      </p:sp>
      <p:sp>
        <p:nvSpPr>
          <p:cNvPr id="5" name="close-action">
            <a:extLst xmlns:a="http://schemas.openxmlformats.org/drawingml/2006/main">
              <a:ext uri="{FF2B5EF4-FFF2-40B4-BE49-F238E27FC236}">
                <a16:creationId xmlns:a16="http://schemas.microsoft.com/office/drawing/2014/main" id="{7D55F3D4-B44B-48D9-B1DD-041ACB7AAF9E}"/>
              </a:ext>
            </a:extLst>
          </p:cNvPr>
          <p:cNvSpPr>
            <a:spLocks xmlns:a="http://schemas.openxmlformats.org/drawingml/2006/main" noGrp="1"/>
          </p:cNvSpPr>
          <p:nvPr/>
        </p:nvSpPr>
        <p:spPr>
          <a:xfrm xmlns:a="http://schemas.openxmlformats.org/drawingml/2006/main">
            <a:off x="495300" y="5314950"/>
            <a:ext cx="10191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73C7F3"/>
                </a:solidFill>
              </a:defRPr>
            </a:pPr>
            <a:r>
              <a:rPr sz="1725" b="1">
                <a:solidFill>
                  <a:srgbClr val="73C7F3"/>
                </a:solidFill>
              </a:rPr>
              <a:t>Next: measure pre-move social ties, housing, land, and jobs for every plausible destination.</a:t>
            </a:r>
          </a:p>
        </p:txBody>
      </p:sp>
      <p:sp>
        <p:nvSpPr>
          <p:cNvPr id="6" name="close-number">
            <a:extLst xmlns:a="http://schemas.openxmlformats.org/drawingml/2006/main">
              <a:ext uri="{FF2B5EF4-FFF2-40B4-BE49-F238E27FC236}">
                <a16:creationId xmlns:a16="http://schemas.microsoft.com/office/drawing/2014/main" id="{08A7976E-47A8-4FAC-9C53-60C946CE3D27}"/>
              </a:ext>
            </a:extLst>
          </p:cNvPr>
          <p:cNvSpPr>
            <a:spLocks xmlns:a="http://schemas.openxmlformats.org/drawingml/2006/main" noGrp="1"/>
          </p:cNvSpPr>
          <p:nvPr/>
        </p:nvSpPr>
        <p:spPr>
          <a:xfrm xmlns:a="http://schemas.openxmlformats.org/drawingml/2006/main">
            <a:off x="11220450" y="647700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825" b="0">
                <a:solidFill>
                  <a:srgbClr val="9AA4B0"/>
                </a:solidFill>
              </a:defRPr>
            </a:pPr>
            <a:r>
              <a:rPr sz="825" b="0">
                <a:solidFill>
                  <a:srgbClr val="9AA4B0"/>
                </a:solidFill>
              </a:rPr>
              <a:t>07</a:t>
            </a:r>
          </a:p>
        </p:txBody>
      </p:sp>
    </p:spTree>
    <p:extLst>
      <p:ext uri="{BB962C8B-B14F-4D97-AF65-F5344CB8AC3E}">
        <p14:creationId xmlns:p14="http://schemas.microsoft.com/office/powerpoint/2010/main" val="10405928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2026-09-02T23:37:39.6970000Z</dcterms:created>
  <dcterms:modified xsi:type="dcterms:W3CDTF">2026-09-02T23:37:39.6970000Z</dcterms:modified>
</coreProperties>
</file>