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eec6ce7ab64f17" /><Relationship Type="http://schemas.openxmlformats.org/officeDocument/2006/relationships/extended-properties" Target="/docProps/app.xml" Id="Rdea22fbb55e049b8" /><Relationship Type="http://schemas.openxmlformats.org/officeDocument/2006/relationships/officeDocument" Target="/ppt/presentation.xml" Id="Rdb4245dd07ec4018" /></Relationships>
</file>

<file path=ppt/presentation.xml><?xml version="1.0" encoding="utf-8"?>
<p:presentation xmlns:p="http://schemas.openxmlformats.org/presentationml/2006/main">
  <p:sldMasterIdLst>
    <p:sldMasterId xmlns:r="http://schemas.openxmlformats.org/officeDocument/2006/relationships" id="2147483648" r:id="R8c5f88f2168149a9"/>
  </p:sldMasterIdLst>
  <p:notesMasterIdLst>
    <p:notesMasterId xmlns:r="http://schemas.openxmlformats.org/officeDocument/2006/relationships" r:id="R6a54cf5610c249c6"/>
  </p:notesMasterIdLst>
  <p:sldIdLst>
    <p:sldId xmlns:r="http://schemas.openxmlformats.org/officeDocument/2006/relationships" id="256" r:id="R1513c2cda9304199"/>
    <p:sldId xmlns:r="http://schemas.openxmlformats.org/officeDocument/2006/relationships" id="257" r:id="R7a4a07051f6d4dfd"/>
    <p:sldId xmlns:r="http://schemas.openxmlformats.org/officeDocument/2006/relationships" id="258" r:id="R992997e29d6b4019"/>
    <p:sldId xmlns:r="http://schemas.openxmlformats.org/officeDocument/2006/relationships" id="259" r:id="R01dca206e6ef4f5f"/>
    <p:sldId xmlns:r="http://schemas.openxmlformats.org/officeDocument/2006/relationships" id="260" r:id="Rebe4d19111cf46a9"/>
    <p:sldId xmlns:r="http://schemas.openxmlformats.org/officeDocument/2006/relationships" id="261" r:id="Rbefa8aab4bc54a24"/>
    <p:sldId xmlns:r="http://schemas.openxmlformats.org/officeDocument/2006/relationships" id="262" r:id="Rdb532df4af3143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e04368edfd4389" /><Relationship Type="http://schemas.openxmlformats.org/officeDocument/2006/relationships/slideMaster" Target="/ppt/slideMasters/slideMaster1.xml" Id="R8c5f88f2168149a9" /><Relationship Type="http://schemas.openxmlformats.org/officeDocument/2006/relationships/notesMaster" Target="/ppt/notesMasters/notesMaster1.xml" Id="R6a54cf5610c249c6" /><Relationship Type="http://schemas.openxmlformats.org/officeDocument/2006/relationships/presProps" Target="/ppt/presProps.xml" Id="R15669400e8984f0f" /><Relationship Type="http://schemas.openxmlformats.org/officeDocument/2006/relationships/tableStyles" Target="/ppt/tableStyles.xml" Id="R530178847ce749a9" /><Relationship Type="http://schemas.openxmlformats.org/officeDocument/2006/relationships/slide" Target="/ppt/slides/slide1.xml" Id="R1513c2cda9304199" /><Relationship Type="http://schemas.openxmlformats.org/officeDocument/2006/relationships/slide" Target="/ppt/slides/slide2.xml" Id="R7a4a07051f6d4dfd" /><Relationship Type="http://schemas.openxmlformats.org/officeDocument/2006/relationships/slide" Target="/ppt/slides/slide3.xml" Id="R992997e29d6b4019" /><Relationship Type="http://schemas.openxmlformats.org/officeDocument/2006/relationships/slide" Target="/ppt/slides/slide4.xml" Id="R01dca206e6ef4f5f" /><Relationship Type="http://schemas.openxmlformats.org/officeDocument/2006/relationships/slide" Target="/ppt/slides/slide5.xml" Id="Rebe4d19111cf46a9" /><Relationship Type="http://schemas.openxmlformats.org/officeDocument/2006/relationships/slide" Target="/ppt/slides/slide6.xml" Id="Rbefa8aab4bc54a24" /><Relationship Type="http://schemas.openxmlformats.org/officeDocument/2006/relationships/slide" Target="/ppt/slides/slide7.xml" Id="Rdb532df4af3143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8581ec217c4b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af6176247a4d1e" /><Relationship Type="http://schemas.openxmlformats.org/officeDocument/2006/relationships/notesMaster" Target="/ppt/notesMasters/notesMaster1.xml" Id="Rc9ce937e571e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c1035de0074128" /><Relationship Type="http://schemas.openxmlformats.org/officeDocument/2006/relationships/notesMaster" Target="/ppt/notesMasters/notesMaster1.xml" Id="R11d9256937cb47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19c4a436c04111" /><Relationship Type="http://schemas.openxmlformats.org/officeDocument/2006/relationships/notesMaster" Target="/ppt/notesMasters/notesMaster1.xml" Id="Re9f5cb057f3c46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21c60496a4d09" /><Relationship Type="http://schemas.openxmlformats.org/officeDocument/2006/relationships/notesMaster" Target="/ppt/notesMasters/notesMaster1.xml" Id="Rc2fc5ed5c81544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3f7b39e77a423a" /><Relationship Type="http://schemas.openxmlformats.org/officeDocument/2006/relationships/notesMaster" Target="/ppt/notesMasters/notesMaster1.xml" Id="Rbcd07899ccfe4b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5f7091d1b04c50" /><Relationship Type="http://schemas.openxmlformats.org/officeDocument/2006/relationships/notesMaster" Target="/ppt/notesMasters/notesMaster1.xml" Id="R337ed1b34d5d4f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ce9e4fe7104d0f" /><Relationship Type="http://schemas.openxmlformats.org/officeDocument/2006/relationships/notesMaster" Target="/ppt/notesMasters/notesMaster1.xml" Id="R0abb5208f26d43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household, not the model. One surveyed household lost land and a homestead to river erosion, then moved from Faridpur to Manikganj in 2010. The study asks why that district became the destination.</a:t>
            </a:r>
          </a:p>
          <a:p xmlns:a="http://schemas.openxmlformats.org/drawingml/2006/main">
            <a:r>
              <a:t/>
            </a:r>
          </a:p>
          <a:p xmlns:a="http://schemas.openxmlformats.org/drawingml/2006/main">
            <a:r>
              <a:t>[Sources]</a:t>
            </a:r>
          </a:p>
          <a:p xmlns:a="http://schemas.openxmlformats.org/drawingml/2006/main">
            <a:r>
              <a:t>Local frozen output: outputs/figures/anonymized_household_destination_story.png</a:t>
            </a:r>
          </a:p>
          <a:p xmlns:a="http://schemas.openxmlformats.org/drawingml/2006/main">
            <a:r>
              <a:t>BIHS public-use surveys: https://doi.org/10.7910/DVN/OR6MHT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human story. The probabilities are out-of-fold predictions, so the model did not train on this household when scoring it. The example illustrates prediction, not a causal claim about why the family moved.</a:t>
            </a:r>
          </a:p>
          <a:p xmlns:a="http://schemas.openxmlformats.org/drawingml/2006/main">
            <a:r>
              <a:t/>
            </a:r>
          </a:p>
          <a:p xmlns:a="http://schemas.openxmlformats.org/drawingml/2006/main">
            <a:r>
              <a:t>[Sources]</a:t>
            </a:r>
          </a:p>
          <a:p xmlns:a="http://schemas.openxmlformats.org/drawingml/2006/main">
            <a:r>
              <a:t>Local frozen out-of-fold prediction table and figure: outputs/figures/anonymized_household_destination_story.png</a:t>
            </a:r>
          </a:p>
          <a:p xmlns:a="http://schemas.openxmlformats.org/drawingml/2006/main">
            <a:r>
              <a:t>BIHS migration module documentation: https://doi.org/10.7910/DVN/OR6MHT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is between a transparent distance-population baseline and a GIS-expanded conditional logit. Main estimates use grouped cross-validation by origin. The outcome is observed district choice conditional on moving, not whether a household moves.</a:t>
            </a:r>
          </a:p>
          <a:p xmlns:a="http://schemas.openxmlformats.org/drawingml/2006/main">
            <a:r>
              <a:t/>
            </a:r>
          </a:p>
          <a:p xmlns:a="http://schemas.openxmlformats.org/drawingml/2006/main">
            <a:r>
              <a:t>[Sources]</a:t>
            </a:r>
          </a:p>
          <a:p xmlns:a="http://schemas.openxmlformats.org/drawingml/2006/main">
            <a:r>
              <a:t>Local methods and frozen claims: publication/manuscript/manuscript.md</a:t>
            </a:r>
          </a:p>
          <a:p xmlns:a="http://schemas.openxmlformats.org/drawingml/2006/main">
            <a:r>
              <a:t>Radiation model: https://doi.org/10.1038/nature10856</a:t>
            </a:r>
          </a:p>
          <a:p xmlns:a="http://schemas.openxmlformats.org/drawingml/2006/main">
            <a:r>
              <a:t>Global Human Settlement Layer: https://doi.org/10.2760/098587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replication. The main BEMP and BIHS erosion-linked estimates are close: 10.8 and 9.8 percentage points. Confidence intervals are shown in the figure. The all-moves and baseline-migrant samples widen origin coverage and remain positive.</a:t>
            </a:r>
          </a:p>
          <a:p xmlns:a="http://schemas.openxmlformats.org/drawingml/2006/main">
            <a:r>
              <a:t/>
            </a:r>
          </a:p>
          <a:p xmlns:a="http://schemas.openxmlformats.org/drawingml/2006/main">
            <a:r>
              <a:t>[Sources]</a:t>
            </a:r>
          </a:p>
          <a:p xmlns:a="http://schemas.openxmlformats.org/drawingml/2006/main">
            <a:r>
              <a:t>Local frozen summary: outputs/tables/cross_dataset_replication_summary.csv</a:t>
            </a:r>
          </a:p>
          <a:p xmlns:a="http://schemas.openxmlformats.org/drawingml/2006/main">
            <a:r>
              <a:t>BEMP public-use data: https://doi.org/10.5281/zenodo.18229498</a:t>
            </a:r>
          </a:p>
          <a:p xmlns:a="http://schemas.openxmlformats.org/drawingml/2006/main">
            <a:r>
              <a:t>BIHS public-use data: https://doi.org/10.7910/DVN/OR6MHT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leave-one-origin-out check separates two questions. Destination ranking retains positive gains in the wide BIHS sample. Migration incidence is origin-specific and should not be presented as a nationally portable forecast.</a:t>
            </a:r>
          </a:p>
          <a:p xmlns:a="http://schemas.openxmlformats.org/drawingml/2006/main">
            <a:r>
              <a:t/>
            </a:r>
          </a:p>
          <a:p xmlns:a="http://schemas.openxmlformats.org/drawingml/2006/main">
            <a:r>
              <a:t>[Sources]</a:t>
            </a:r>
          </a:p>
          <a:p xmlns:a="http://schemas.openxmlformats.org/drawingml/2006/main">
            <a:r>
              <a:t>Local validation output: outputs/tables/bihs_replication_validation.csv</a:t>
            </a:r>
          </a:p>
          <a:p xmlns:a="http://schemas.openxmlformats.org/drawingml/2006/main">
            <a:r>
              <a:t>Local figure: outputs/figures/validation_transportability_comparison.png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statistic is substantively striking but post-choice, so it is excluded from the predictive specification. A future survey should measure pre-move ties and household-specific access to land, housing, and jobs across the candidate set.</a:t>
            </a:r>
          </a:p>
          <a:p xmlns:a="http://schemas.openxmlformats.org/drawingml/2006/main">
            <a:r>
              <a:t/>
            </a:r>
          </a:p>
          <a:p xmlns:a="http://schemas.openxmlformats.org/drawingml/2006/main">
            <a:r>
              <a:t>[Sources]</a:t>
            </a:r>
          </a:p>
          <a:p xmlns:a="http://schemas.openxmlformats.org/drawingml/2006/main">
            <a:r>
              <a:t>Local audited statistic: publication/qa/manuscript_number_registry.csv</a:t>
            </a:r>
          </a:p>
          <a:p xmlns:a="http://schemas.openxmlformats.org/drawingml/2006/main">
            <a:r>
              <a:t>Local limitations: publication/manuscript/manuscript.md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household. The study cannot tell us every reason Manikganj was possible, but it shows that destination geography contains predictive information beyond distance. The next data collection should make household-destination links observable before the move.</a:t>
            </a:r>
          </a:p>
          <a:p xmlns:a="http://schemas.openxmlformats.org/drawingml/2006/main">
            <a:r>
              <a:t/>
            </a:r>
          </a:p>
          <a:p xmlns:a="http://schemas.openxmlformats.org/drawingml/2006/main">
            <a:r>
              <a:t>[Sources]</a:t>
            </a:r>
          </a:p>
          <a:p xmlns:a="http://schemas.openxmlformats.org/drawingml/2006/main">
            <a:r>
              <a:t>Local claim sheet: publication/claim_sheet.md</a:t>
            </a:r>
          </a:p>
          <a:p xmlns:a="http://schemas.openxmlformats.org/drawingml/2006/main">
            <a:r>
              <a:t>Local paper: publication/manuscript/manuscript.md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9bc081ef634a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089526ef4b4a9e" /><Relationship Type="http://schemas.openxmlformats.org/officeDocument/2006/relationships/slideLayout" Target="/ppt/slideLayouts/slideLayout1.xml" Id="R55f02bf6fdb642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f02bf6fdb642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b6ac67cc234ea8" /><Relationship Type="http://schemas.openxmlformats.org/officeDocument/2006/relationships/image" Target="/ppt/media/image.png" Id="Re715aec2d59d4c16" /><Relationship Type="http://schemas.openxmlformats.org/officeDocument/2006/relationships/notesSlide" Target="/ppt/notesSlides/notesSlide1.xml" Id="Re09e2d6a162243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72fa9e6c4d4a18" /><Relationship Type="http://schemas.openxmlformats.org/officeDocument/2006/relationships/notesSlide" Target="/ppt/notesSlides/notesSlide2.xml" Id="Rfd6572584cd742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2324141b264b91" /><Relationship Type="http://schemas.openxmlformats.org/officeDocument/2006/relationships/notesSlide" Target="/ppt/notesSlides/notesSlide3.xml" Id="R93bce201ef8c44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1a9b9fe3854d55" /><Relationship Type="http://schemas.openxmlformats.org/officeDocument/2006/relationships/image" Target="/ppt/media/image2.png" Id="R769d9f41386d4bee" /><Relationship Type="http://schemas.openxmlformats.org/officeDocument/2006/relationships/notesSlide" Target="/ppt/notesSlides/notesSlide4.xml" Id="R794a94e7c69b44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b18af8dc474973" /><Relationship Type="http://schemas.openxmlformats.org/officeDocument/2006/relationships/image" Target="/ppt/media/image3.png" Id="R056c63e85a674256" /><Relationship Type="http://schemas.openxmlformats.org/officeDocument/2006/relationships/notesSlide" Target="/ppt/notesSlides/notesSlide5.xml" Id="Rbcd14535406d4b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8b4ead1dc740bb" /><Relationship Type="http://schemas.openxmlformats.org/officeDocument/2006/relationships/notesSlide" Target="/ppt/notesSlides/notesSlide6.xml" Id="Rd83fe8014c2c48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da23a63d5a435a" /><Relationship Type="http://schemas.openxmlformats.org/officeDocument/2006/relationships/notesSlide" Target="/ppt/notesSlides/notesSlide7.xml" Id="Re4fd964ff11540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ver-accent">
            <a:extLst xmlns:a="http://schemas.openxmlformats.org/drawingml/2006/main">
              <a:ext uri="{FF2B5EF4-FFF2-40B4-BE49-F238E27FC236}">
                <a16:creationId xmlns:a16="http://schemas.microsoft.com/office/drawing/2014/main" id="{CEC3341C-E5BE-4558-B9B2-D63DAEB5BC97}"/>
              </a:ext>
            </a:extLst>
          </p:cNvPr>
          <p:cNvSpPr>
            <a:spLocks xmlns:a="http://schemas.openxmlformats.org/drawingml/2006/main" noGrp="1"/>
          </p:cNvSpPr>
          <p:nvPr/>
        </p:nvSpPr>
        <p:spPr>
          <a:xfrm xmlns:a="http://schemas.openxmlformats.org/drawingml/2006/main">
            <a:off x="495300" y="438150"/>
            <a:ext cx="95250" cy="952500"/>
          </a:xfrm>
          <a:prstGeom xmlns:a="http://schemas.openxmlformats.org/drawingml/2006/main" prst="rect">
            <a:avLst/>
          </a:prstGeom>
          <a:solidFill xmlns:a="http://schemas.openxmlformats.org/drawingml/2006/main">
            <a:srgbClr val="1877C9"/>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E6218F4E-DF00-4724-9E98-20A371A0896E}"/>
              </a:ext>
            </a:extLst>
          </p:cNvPr>
          <p:cNvSpPr>
            <a:spLocks xmlns:a="http://schemas.openxmlformats.org/drawingml/2006/main" noGrp="1"/>
          </p:cNvSpPr>
          <p:nvPr/>
        </p:nvSpPr>
        <p:spPr>
          <a:xfrm xmlns:a="http://schemas.openxmlformats.org/drawingml/2006/main">
            <a:off x="819150" y="48577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877C9"/>
                </a:solidFill>
              </a:defRPr>
            </a:pPr>
            <a:r>
              <a:rPr sz="1050" b="1">
                <a:solidFill>
                  <a:srgbClr val="1877C9"/>
                </a:solidFill>
              </a:rPr>
              <a:t>BANGLADESH • CLIMATE MOBILITY</a:t>
            </a:r>
          </a:p>
        </p:txBody>
      </p:sp>
      <p:sp>
        <p:nvSpPr>
          <p:cNvPr id="3" name="cover-title">
            <a:extLst xmlns:a="http://schemas.openxmlformats.org/drawingml/2006/main">
              <a:ext uri="{FF2B5EF4-FFF2-40B4-BE49-F238E27FC236}">
                <a16:creationId xmlns:a16="http://schemas.microsoft.com/office/drawing/2014/main" id="{92F5C707-AAA7-49D4-AEED-46B789EB3A08}"/>
              </a:ext>
            </a:extLst>
          </p:cNvPr>
          <p:cNvSpPr>
            <a:spLocks xmlns:a="http://schemas.openxmlformats.org/drawingml/2006/main" noGrp="1"/>
          </p:cNvSpPr>
          <p:nvPr/>
        </p:nvSpPr>
        <p:spPr>
          <a:xfrm xmlns:a="http://schemas.openxmlformats.org/drawingml/2006/main">
            <a:off x="495300" y="1695450"/>
            <a:ext cx="5334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111827"/>
                </a:solidFill>
              </a:defRPr>
            </a:pPr>
            <a:r>
              <a:rPr sz="4050" b="1">
                <a:solidFill>
                  <a:srgbClr val="111827"/>
                </a:solidFill>
              </a:rPr>
              <a:t>Where do climate-affected households go?</a:t>
            </a:r>
          </a:p>
        </p:txBody>
      </p:sp>
      <p:sp>
        <p:nvSpPr>
          <p:cNvPr id="4" name="cover-subtitle">
            <a:extLst xmlns:a="http://schemas.openxmlformats.org/drawingml/2006/main">
              <a:ext uri="{FF2B5EF4-FFF2-40B4-BE49-F238E27FC236}">
                <a16:creationId xmlns:a16="http://schemas.microsoft.com/office/drawing/2014/main" id="{5FA952E7-1209-471F-9B0B-8C810B52B917}"/>
              </a:ext>
            </a:extLst>
          </p:cNvPr>
          <p:cNvSpPr>
            <a:spLocks xmlns:a="http://schemas.openxmlformats.org/drawingml/2006/main" noGrp="1"/>
          </p:cNvSpPr>
          <p:nvPr/>
        </p:nvSpPr>
        <p:spPr>
          <a:xfrm xmlns:a="http://schemas.openxmlformats.org/drawingml/2006/main">
            <a:off x="495300" y="3943350"/>
            <a:ext cx="514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56070"/>
                </a:solidFill>
              </a:defRPr>
            </a:pPr>
            <a:r>
              <a:rPr sz="1725" b="0">
                <a:solidFill>
                  <a:srgbClr val="556070"/>
                </a:solidFill>
              </a:rPr>
              <a:t>Revealed destination choice after flood and river erosion</a:t>
            </a:r>
          </a:p>
        </p:txBody>
      </p:sp>
      <p:sp>
        <p:nvSpPr>
          <p:cNvPr id="5" name="cover-author">
            <a:extLst xmlns:a="http://schemas.openxmlformats.org/drawingml/2006/main">
              <a:ext uri="{FF2B5EF4-FFF2-40B4-BE49-F238E27FC236}">
                <a16:creationId xmlns:a16="http://schemas.microsoft.com/office/drawing/2014/main" id="{D8989E18-EDF8-4BAE-9A63-D6B500BF828E}"/>
              </a:ext>
            </a:extLst>
          </p:cNvPr>
          <p:cNvSpPr>
            <a:spLocks xmlns:a="http://schemas.openxmlformats.org/drawingml/2006/main" noGrp="1"/>
          </p:cNvSpPr>
          <p:nvPr/>
        </p:nvSpPr>
        <p:spPr>
          <a:xfrm xmlns:a="http://schemas.openxmlformats.org/drawingml/2006/main">
            <a:off x="495300" y="546735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11827"/>
                </a:solidFill>
              </a:defRPr>
            </a:pPr>
            <a:r>
              <a:rPr sz="1200" b="0">
                <a:solidFill>
                  <a:srgbClr val="111827"/>
                </a:solidFill>
              </a:rPr>
              <a:t>Shail Belani  •  Northwestern University</a:t>
            </a:r>
          </a:p>
          <a:p xmlns:a="http://schemas.openxmlformats.org/drawingml/2006/main">
            <a:pPr algn="l">
              <a:defRPr sz="1200" b="0">
                <a:solidFill>
                  <a:srgbClr val="111827"/>
                </a:solidFill>
              </a:defRPr>
            </a:pPr>
            <a:r>
              <a:rPr sz="1200" b="0">
                <a:solidFill>
                  <a:srgbClr val="111827"/>
                </a:solidFill>
              </a:rPr>
              <a:t>Global Poverty Research Lab undergraduate researcher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715aec2d59d4c16"/>
          <a:stretch xmlns:a="http://schemas.openxmlformats.org/drawingml/2006/main"/>
        </p:blipFill>
        <p:spPr>
          <a:xfrm xmlns:a="http://schemas.openxmlformats.org/drawingml/2006/main">
            <a:off x="6134100" y="1589472"/>
            <a:ext cx="5562600" cy="3279006"/>
          </a:xfrm>
          <a:prstGeom xmlns:a="http://schemas.openxmlformats.org/drawingml/2006/main" prst="rect">
            <a:avLst/>
          </a:prstGeom>
        </p:spPr>
      </p:pic>
      <p:sp>
        <p:nvSpPr>
          <p:cNvPr id="7" name="cover-number">
            <a:extLst xmlns:a="http://schemas.openxmlformats.org/drawingml/2006/main">
              <a:ext uri="{FF2B5EF4-FFF2-40B4-BE49-F238E27FC236}">
                <a16:creationId xmlns:a16="http://schemas.microsoft.com/office/drawing/2014/main" id="{F7B2F269-698C-4AAA-815C-B7206B90FC56}"/>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01</a:t>
            </a:r>
          </a:p>
        </p:txBody>
      </p:sp>
    </p:spTree>
    <p:extLst>
      <p:ext uri="{BB962C8B-B14F-4D97-AF65-F5344CB8AC3E}">
        <p14:creationId xmlns:p14="http://schemas.microsoft.com/office/powerpoint/2010/main" val="524168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2">
            <a:extLst xmlns:a="http://schemas.openxmlformats.org/drawingml/2006/main">
              <a:ext uri="{FF2B5EF4-FFF2-40B4-BE49-F238E27FC236}">
                <a16:creationId xmlns:a16="http://schemas.microsoft.com/office/drawing/2014/main" id="{382F6C55-C269-4D01-953F-5182E9888A2C}"/>
              </a:ext>
            </a:extLst>
          </p:cNvPr>
          <p:cNvSpPr>
            <a:spLocks xmlns:a="http://schemas.openxmlformats.org/drawingml/2006/main" noGrp="1"/>
          </p:cNvSpPr>
          <p:nvPr/>
        </p:nvSpPr>
        <p:spPr>
          <a:xfrm xmlns:a="http://schemas.openxmlformats.org/drawingml/2006/main">
            <a:off x="4953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877C9"/>
                </a:solidFill>
              </a:defRPr>
            </a:pPr>
            <a:r>
              <a:rPr sz="975" b="1">
                <a:solidFill>
                  <a:srgbClr val="1877C9"/>
                </a:solidFill>
              </a:rPr>
              <a:t>ONE ANONYMIZED HOUSEHOLD</a:t>
            </a:r>
          </a:p>
        </p:txBody>
      </p:sp>
      <p:sp>
        <p:nvSpPr>
          <p:cNvPr id="2" name="title-2">
            <a:extLst xmlns:a="http://schemas.openxmlformats.org/drawingml/2006/main">
              <a:ext uri="{FF2B5EF4-FFF2-40B4-BE49-F238E27FC236}">
                <a16:creationId xmlns:a16="http://schemas.microsoft.com/office/drawing/2014/main" id="{CF38C814-6940-47D1-A167-284F564897AF}"/>
              </a:ext>
            </a:extLst>
          </p:cNvPr>
          <p:cNvSpPr>
            <a:spLocks xmlns:a="http://schemas.openxmlformats.org/drawingml/2006/main" noGrp="1"/>
          </p:cNvSpPr>
          <p:nvPr/>
        </p:nvSpPr>
        <p:spPr>
          <a:xfrm xmlns:a="http://schemas.openxmlformats.org/drawingml/2006/main">
            <a:off x="495300" y="666750"/>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A lost homestead became a destination decision</a:t>
            </a:r>
          </a:p>
        </p:txBody>
      </p:sp>
      <p:sp>
        <p:nvSpPr>
          <p:cNvPr id="3" name="header-rule-2">
            <a:extLst xmlns:a="http://schemas.openxmlformats.org/drawingml/2006/main">
              <a:ext uri="{FF2B5EF4-FFF2-40B4-BE49-F238E27FC236}">
                <a16:creationId xmlns:a16="http://schemas.microsoft.com/office/drawing/2014/main" id="{8B3A4663-A194-4047-B10A-F2B4CF6F1F0F}"/>
              </a:ext>
            </a:extLst>
          </p:cNvPr>
          <p:cNvSpPr>
            <a:spLocks xmlns:a="http://schemas.openxmlformats.org/drawingml/2006/main" noGrp="1"/>
          </p:cNvSpPr>
          <p:nvPr/>
        </p:nvSpPr>
        <p:spPr>
          <a:xfrm xmlns:a="http://schemas.openxmlformats.org/drawingml/2006/main">
            <a:off x="495300" y="1438275"/>
            <a:ext cx="112014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4" name="number-2">
            <a:extLst xmlns:a="http://schemas.openxmlformats.org/drawingml/2006/main">
              <a:ext uri="{FF2B5EF4-FFF2-40B4-BE49-F238E27FC236}">
                <a16:creationId xmlns:a16="http://schemas.microsoft.com/office/drawing/2014/main" id="{66E843C0-8A29-4792-A255-085957125739}"/>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02</a:t>
            </a:r>
          </a:p>
        </p:txBody>
      </p:sp>
      <p:sp>
        <p:nvSpPr>
          <p:cNvPr id="5" name="timeline">
            <a:extLst xmlns:a="http://schemas.openxmlformats.org/drawingml/2006/main">
              <a:ext uri="{FF2B5EF4-FFF2-40B4-BE49-F238E27FC236}">
                <a16:creationId xmlns:a16="http://schemas.microsoft.com/office/drawing/2014/main" id="{978FB654-ED39-4963-A0BA-7215270F9886}"/>
              </a:ext>
            </a:extLst>
          </p:cNvPr>
          <p:cNvSpPr>
            <a:spLocks xmlns:a="http://schemas.openxmlformats.org/drawingml/2006/main" noGrp="1"/>
          </p:cNvSpPr>
          <p:nvPr/>
        </p:nvSpPr>
        <p:spPr>
          <a:xfrm xmlns:a="http://schemas.openxmlformats.org/drawingml/2006/main">
            <a:off x="1143000" y="3143250"/>
            <a:ext cx="9906000" cy="2857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6" name="dot-0">
            <a:extLst xmlns:a="http://schemas.openxmlformats.org/drawingml/2006/main">
              <a:ext uri="{FF2B5EF4-FFF2-40B4-BE49-F238E27FC236}">
                <a16:creationId xmlns:a16="http://schemas.microsoft.com/office/drawing/2014/main" id="{3518ED4F-ABDC-423B-88F7-40C290E4AE4D}"/>
              </a:ext>
            </a:extLst>
          </p:cNvPr>
          <p:cNvSpPr>
            <a:spLocks xmlns:a="http://schemas.openxmlformats.org/drawingml/2006/main" noGrp="1"/>
          </p:cNvSpPr>
          <p:nvPr/>
        </p:nvSpPr>
        <p:spPr>
          <a:xfrm xmlns:a="http://schemas.openxmlformats.org/drawingml/2006/main">
            <a:off x="1724025" y="3067050"/>
            <a:ext cx="171450" cy="1714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7" name="step-title-0">
            <a:extLst xmlns:a="http://schemas.openxmlformats.org/drawingml/2006/main">
              <a:ext uri="{FF2B5EF4-FFF2-40B4-BE49-F238E27FC236}">
                <a16:creationId xmlns:a16="http://schemas.microsoft.com/office/drawing/2014/main" id="{A2A83610-8029-447A-934E-FA749D7E45C8}"/>
              </a:ext>
            </a:extLst>
          </p:cNvPr>
          <p:cNvSpPr>
            <a:spLocks xmlns:a="http://schemas.openxmlformats.org/drawingml/2006/main" noGrp="1"/>
          </p:cNvSpPr>
          <p:nvPr/>
        </p:nvSpPr>
        <p:spPr>
          <a:xfrm xmlns:a="http://schemas.openxmlformats.org/drawingml/2006/main">
            <a:off x="381000" y="20764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827"/>
                </a:solidFill>
              </a:defRPr>
            </a:pPr>
            <a:r>
              <a:rPr sz="1800" b="1">
                <a:solidFill>
                  <a:srgbClr val="111827"/>
                </a:solidFill>
              </a:rPr>
              <a:t>River erosion</a:t>
            </a:r>
          </a:p>
        </p:txBody>
      </p:sp>
      <p:sp>
        <p:nvSpPr>
          <p:cNvPr id="8" name="step-body-0">
            <a:extLst xmlns:a="http://schemas.openxmlformats.org/drawingml/2006/main">
              <a:ext uri="{FF2B5EF4-FFF2-40B4-BE49-F238E27FC236}">
                <a16:creationId xmlns:a16="http://schemas.microsoft.com/office/drawing/2014/main" id="{6A822A29-FABA-4092-9CF9-1FBB77FED988}"/>
              </a:ext>
            </a:extLst>
          </p:cNvPr>
          <p:cNvSpPr>
            <a:spLocks xmlns:a="http://schemas.openxmlformats.org/drawingml/2006/main" noGrp="1"/>
          </p:cNvSpPr>
          <p:nvPr/>
        </p:nvSpPr>
        <p:spPr>
          <a:xfrm xmlns:a="http://schemas.openxmlformats.org/drawingml/2006/main">
            <a:off x="342900" y="3562350"/>
            <a:ext cx="2933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6070"/>
                </a:solidFill>
              </a:defRPr>
            </a:pPr>
            <a:r>
              <a:rPr sz="1275" b="0">
                <a:solidFill>
                  <a:srgbClr val="556070"/>
                </a:solidFill>
              </a:rPr>
              <a:t>The survey records loss of land or homestead as the reason for moving.</a:t>
            </a:r>
          </a:p>
        </p:txBody>
      </p:sp>
      <p:sp>
        <p:nvSpPr>
          <p:cNvPr id="9" name="dot-1">
            <a:extLst xmlns:a="http://schemas.openxmlformats.org/drawingml/2006/main">
              <a:ext uri="{FF2B5EF4-FFF2-40B4-BE49-F238E27FC236}">
                <a16:creationId xmlns:a16="http://schemas.microsoft.com/office/drawing/2014/main" id="{AE5FAE04-CFB3-458E-8961-37C23A5D08B8}"/>
              </a:ext>
            </a:extLst>
          </p:cNvPr>
          <p:cNvSpPr>
            <a:spLocks xmlns:a="http://schemas.openxmlformats.org/drawingml/2006/main" noGrp="1"/>
          </p:cNvSpPr>
          <p:nvPr/>
        </p:nvSpPr>
        <p:spPr>
          <a:xfrm xmlns:a="http://schemas.openxmlformats.org/drawingml/2006/main">
            <a:off x="6010275" y="3067050"/>
            <a:ext cx="171450" cy="1714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0" name="step-title-1">
            <a:extLst xmlns:a="http://schemas.openxmlformats.org/drawingml/2006/main">
              <a:ext uri="{FF2B5EF4-FFF2-40B4-BE49-F238E27FC236}">
                <a16:creationId xmlns:a16="http://schemas.microsoft.com/office/drawing/2014/main" id="{983D8748-056A-47B7-9DD2-2DEC8C451510}"/>
              </a:ext>
            </a:extLst>
          </p:cNvPr>
          <p:cNvSpPr>
            <a:spLocks xmlns:a="http://schemas.openxmlformats.org/drawingml/2006/main" noGrp="1"/>
          </p:cNvSpPr>
          <p:nvPr/>
        </p:nvSpPr>
        <p:spPr>
          <a:xfrm xmlns:a="http://schemas.openxmlformats.org/drawingml/2006/main">
            <a:off x="4667250" y="20764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827"/>
                </a:solidFill>
              </a:defRPr>
            </a:pPr>
            <a:r>
              <a:rPr sz="1800" b="1">
                <a:solidFill>
                  <a:srgbClr val="111827"/>
                </a:solidFill>
              </a:rPr>
              <a:t>Move in 2010</a:t>
            </a:r>
          </a:p>
        </p:txBody>
      </p:sp>
      <p:sp>
        <p:nvSpPr>
          <p:cNvPr id="11" name="step-body-1">
            <a:extLst xmlns:a="http://schemas.openxmlformats.org/drawingml/2006/main">
              <a:ext uri="{FF2B5EF4-FFF2-40B4-BE49-F238E27FC236}">
                <a16:creationId xmlns:a16="http://schemas.microsoft.com/office/drawing/2014/main" id="{6572B4E6-4029-412D-A7E5-5B5E73B851C7}"/>
              </a:ext>
            </a:extLst>
          </p:cNvPr>
          <p:cNvSpPr>
            <a:spLocks xmlns:a="http://schemas.openxmlformats.org/drawingml/2006/main" noGrp="1"/>
          </p:cNvSpPr>
          <p:nvPr/>
        </p:nvSpPr>
        <p:spPr>
          <a:xfrm xmlns:a="http://schemas.openxmlformats.org/drawingml/2006/main">
            <a:off x="4629150" y="3562350"/>
            <a:ext cx="2933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6070"/>
                </a:solidFill>
              </a:defRPr>
            </a:pPr>
            <a:r>
              <a:rPr sz="1275" b="0">
                <a:solidFill>
                  <a:srgbClr val="556070"/>
                </a:solidFill>
              </a:rPr>
              <a:t>The household leaves Faridpur. Its exact address and identity remain private.</a:t>
            </a:r>
          </a:p>
        </p:txBody>
      </p:sp>
      <p:sp>
        <p:nvSpPr>
          <p:cNvPr id="12" name="dot-2">
            <a:extLst xmlns:a="http://schemas.openxmlformats.org/drawingml/2006/main">
              <a:ext uri="{FF2B5EF4-FFF2-40B4-BE49-F238E27FC236}">
                <a16:creationId xmlns:a16="http://schemas.microsoft.com/office/drawing/2014/main" id="{E7E29F4D-DB46-4313-BBF2-54DFB201BC70}"/>
              </a:ext>
            </a:extLst>
          </p:cNvPr>
          <p:cNvSpPr>
            <a:spLocks xmlns:a="http://schemas.openxmlformats.org/drawingml/2006/main" noGrp="1"/>
          </p:cNvSpPr>
          <p:nvPr/>
        </p:nvSpPr>
        <p:spPr>
          <a:xfrm xmlns:a="http://schemas.openxmlformats.org/drawingml/2006/main">
            <a:off x="10296525" y="3067050"/>
            <a:ext cx="171450" cy="171450"/>
          </a:xfrm>
          <a:prstGeom xmlns:a="http://schemas.openxmlformats.org/drawingml/2006/main" prst="rect">
            <a:avLst/>
          </a:prstGeom>
          <a:solidFill xmlns:a="http://schemas.openxmlformats.org/drawingml/2006/main">
            <a:srgbClr val="1877C9"/>
          </a:solidFill>
          <a:ln xmlns:a="http://schemas.openxmlformats.org/drawingml/2006/main" w="0">
            <a:noFill/>
            <a:prstDash val="solid"/>
          </a:ln>
        </p:spPr>
      </p:sp>
      <p:sp>
        <p:nvSpPr>
          <p:cNvPr id="13" name="step-title-2">
            <a:extLst xmlns:a="http://schemas.openxmlformats.org/drawingml/2006/main">
              <a:ext uri="{FF2B5EF4-FFF2-40B4-BE49-F238E27FC236}">
                <a16:creationId xmlns:a16="http://schemas.microsoft.com/office/drawing/2014/main" id="{D0098510-FBDC-43EB-AB81-1B2BFFB3D1DB}"/>
              </a:ext>
            </a:extLst>
          </p:cNvPr>
          <p:cNvSpPr>
            <a:spLocks xmlns:a="http://schemas.openxmlformats.org/drawingml/2006/main" noGrp="1"/>
          </p:cNvSpPr>
          <p:nvPr/>
        </p:nvSpPr>
        <p:spPr>
          <a:xfrm xmlns:a="http://schemas.openxmlformats.org/drawingml/2006/main">
            <a:off x="8953500" y="20764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827"/>
                </a:solidFill>
              </a:defRPr>
            </a:pPr>
            <a:r>
              <a:rPr sz="1800" b="1">
                <a:solidFill>
                  <a:srgbClr val="111827"/>
                </a:solidFill>
              </a:rPr>
              <a:t>Manikganj chosen</a:t>
            </a:r>
          </a:p>
        </p:txBody>
      </p:sp>
      <p:sp>
        <p:nvSpPr>
          <p:cNvPr id="14" name="step-body-2">
            <a:extLst xmlns:a="http://schemas.openxmlformats.org/drawingml/2006/main">
              <a:ext uri="{FF2B5EF4-FFF2-40B4-BE49-F238E27FC236}">
                <a16:creationId xmlns:a16="http://schemas.microsoft.com/office/drawing/2014/main" id="{F90F2958-B24F-4AF1-B088-C1233320E9CF}"/>
              </a:ext>
            </a:extLst>
          </p:cNvPr>
          <p:cNvSpPr>
            <a:spLocks xmlns:a="http://schemas.openxmlformats.org/drawingml/2006/main" noGrp="1"/>
          </p:cNvSpPr>
          <p:nvPr/>
        </p:nvSpPr>
        <p:spPr>
          <a:xfrm xmlns:a="http://schemas.openxmlformats.org/drawingml/2006/main">
            <a:off x="8915400" y="3562350"/>
            <a:ext cx="2933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56070"/>
                </a:solidFill>
              </a:defRPr>
            </a:pPr>
            <a:r>
              <a:rPr sz="1275" b="0">
                <a:solidFill>
                  <a:srgbClr val="556070"/>
                </a:solidFill>
              </a:rPr>
              <a:t>Among 64 districts, the GIS model ranks the observed destination 2nd; gravity ranks it 6th.</a:t>
            </a:r>
          </a:p>
        </p:txBody>
      </p:sp>
      <p:sp>
        <p:nvSpPr>
          <p:cNvPr id="15" name="prob-strip">
            <a:extLst xmlns:a="http://schemas.openxmlformats.org/drawingml/2006/main">
              <a:ext uri="{FF2B5EF4-FFF2-40B4-BE49-F238E27FC236}">
                <a16:creationId xmlns:a16="http://schemas.microsoft.com/office/drawing/2014/main" id="{C0B06E70-D2A7-4DB8-AC53-468E42781DD8}"/>
              </a:ext>
            </a:extLst>
          </p:cNvPr>
          <p:cNvSpPr>
            <a:spLocks xmlns:a="http://schemas.openxmlformats.org/drawingml/2006/main" noGrp="1"/>
          </p:cNvSpPr>
          <p:nvPr/>
        </p:nvSpPr>
        <p:spPr>
          <a:xfrm xmlns:a="http://schemas.openxmlformats.org/drawingml/2006/main">
            <a:off x="3486150" y="5286375"/>
            <a:ext cx="5219700" cy="571500"/>
          </a:xfrm>
          <a:prstGeom xmlns:a="http://schemas.openxmlformats.org/drawingml/2006/main" prst="rect">
            <a:avLst/>
          </a:prstGeom>
          <a:solidFill xmlns:a="http://schemas.openxmlformats.org/drawingml/2006/main">
            <a:srgbClr val="DDF0FC"/>
          </a:solidFill>
          <a:ln xmlns:a="http://schemas.openxmlformats.org/drawingml/2006/main" w="0">
            <a:noFill/>
            <a:prstDash val="solid"/>
          </a:ln>
        </p:spPr>
      </p:sp>
      <p:sp>
        <p:nvSpPr>
          <p:cNvPr id="16" name="probability">
            <a:extLst xmlns:a="http://schemas.openxmlformats.org/drawingml/2006/main">
              <a:ext uri="{FF2B5EF4-FFF2-40B4-BE49-F238E27FC236}">
                <a16:creationId xmlns:a16="http://schemas.microsoft.com/office/drawing/2014/main" id="{5D80C5AB-E366-4D74-B8CA-137A1DD1DC38}"/>
              </a:ext>
            </a:extLst>
          </p:cNvPr>
          <p:cNvSpPr>
            <a:spLocks xmlns:a="http://schemas.openxmlformats.org/drawingml/2006/main" noGrp="1"/>
          </p:cNvSpPr>
          <p:nvPr/>
        </p:nvSpPr>
        <p:spPr>
          <a:xfrm xmlns:a="http://schemas.openxmlformats.org/drawingml/2006/main">
            <a:off x="3714750" y="54578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877C9"/>
                </a:solidFill>
              </a:defRPr>
            </a:pPr>
            <a:r>
              <a:rPr sz="1350" b="1">
                <a:solidFill>
                  <a:srgbClr val="1877C9"/>
                </a:solidFill>
              </a:rPr>
              <a:t>Observed-destination probability: 7.0% gravity  →  13.7% GIS</a:t>
            </a:r>
          </a:p>
        </p:txBody>
      </p:sp>
    </p:spTree>
    <p:extLst>
      <p:ext uri="{BB962C8B-B14F-4D97-AF65-F5344CB8AC3E}">
        <p14:creationId xmlns:p14="http://schemas.microsoft.com/office/powerpoint/2010/main" val="1451156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3">
            <a:extLst xmlns:a="http://schemas.openxmlformats.org/drawingml/2006/main">
              <a:ext uri="{FF2B5EF4-FFF2-40B4-BE49-F238E27FC236}">
                <a16:creationId xmlns:a16="http://schemas.microsoft.com/office/drawing/2014/main" id="{8C9D2E34-7E9D-4826-BA01-ACE6449E31EF}"/>
              </a:ext>
            </a:extLst>
          </p:cNvPr>
          <p:cNvSpPr>
            <a:spLocks xmlns:a="http://schemas.openxmlformats.org/drawingml/2006/main" noGrp="1"/>
          </p:cNvSpPr>
          <p:nvPr/>
        </p:nvSpPr>
        <p:spPr>
          <a:xfrm xmlns:a="http://schemas.openxmlformats.org/drawingml/2006/main">
            <a:off x="4953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877C9"/>
                </a:solidFill>
              </a:defRPr>
            </a:pPr>
            <a:r>
              <a:rPr sz="975" b="1">
                <a:solidFill>
                  <a:srgbClr val="1877C9"/>
                </a:solidFill>
              </a:rPr>
              <a:t>EMPIRICAL DESIGN</a:t>
            </a:r>
          </a:p>
        </p:txBody>
      </p:sp>
      <p:sp>
        <p:nvSpPr>
          <p:cNvPr id="2" name="title-3">
            <a:extLst xmlns:a="http://schemas.openxmlformats.org/drawingml/2006/main">
              <a:ext uri="{FF2B5EF4-FFF2-40B4-BE49-F238E27FC236}">
                <a16:creationId xmlns:a16="http://schemas.microsoft.com/office/drawing/2014/main" id="{1C3ECC4C-20A6-4D51-A105-3C49F9800994}"/>
              </a:ext>
            </a:extLst>
          </p:cNvPr>
          <p:cNvSpPr>
            <a:spLocks xmlns:a="http://schemas.openxmlformats.org/drawingml/2006/main" noGrp="1"/>
          </p:cNvSpPr>
          <p:nvPr/>
        </p:nvSpPr>
        <p:spPr>
          <a:xfrm xmlns:a="http://schemas.openxmlformats.org/drawingml/2006/main">
            <a:off x="495300" y="666750"/>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The test is simple: can destination geography beat distance?</a:t>
            </a:r>
          </a:p>
        </p:txBody>
      </p:sp>
      <p:sp>
        <p:nvSpPr>
          <p:cNvPr id="3" name="header-rule-3">
            <a:extLst xmlns:a="http://schemas.openxmlformats.org/drawingml/2006/main">
              <a:ext uri="{FF2B5EF4-FFF2-40B4-BE49-F238E27FC236}">
                <a16:creationId xmlns:a16="http://schemas.microsoft.com/office/drawing/2014/main" id="{457CF544-C016-468C-A7DB-EB8E98BDD21D}"/>
              </a:ext>
            </a:extLst>
          </p:cNvPr>
          <p:cNvSpPr>
            <a:spLocks xmlns:a="http://schemas.openxmlformats.org/drawingml/2006/main" noGrp="1"/>
          </p:cNvSpPr>
          <p:nvPr/>
        </p:nvSpPr>
        <p:spPr>
          <a:xfrm xmlns:a="http://schemas.openxmlformats.org/drawingml/2006/main">
            <a:off x="495300" y="1438275"/>
            <a:ext cx="112014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4" name="number-3">
            <a:extLst xmlns:a="http://schemas.openxmlformats.org/drawingml/2006/main">
              <a:ext uri="{FF2B5EF4-FFF2-40B4-BE49-F238E27FC236}">
                <a16:creationId xmlns:a16="http://schemas.microsoft.com/office/drawing/2014/main" id="{7C46E674-0A8F-4B0D-A861-CC842C87F43B}"/>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03</a:t>
            </a:r>
          </a:p>
        </p:txBody>
      </p:sp>
      <p:sp>
        <p:nvSpPr>
          <p:cNvPr id="5" name="method-panel-0">
            <a:extLst xmlns:a="http://schemas.openxmlformats.org/drawingml/2006/main">
              <a:ext uri="{FF2B5EF4-FFF2-40B4-BE49-F238E27FC236}">
                <a16:creationId xmlns:a16="http://schemas.microsoft.com/office/drawing/2014/main" id="{51E9BA8D-676D-4DDF-85A5-C936A0FC9BBA}"/>
              </a:ext>
            </a:extLst>
          </p:cNvPr>
          <p:cNvSpPr>
            <a:spLocks xmlns:a="http://schemas.openxmlformats.org/drawingml/2006/main" noGrp="1"/>
          </p:cNvSpPr>
          <p:nvPr/>
        </p:nvSpPr>
        <p:spPr>
          <a:xfrm xmlns:a="http://schemas.openxmlformats.org/drawingml/2006/main">
            <a:off x="495300" y="2057400"/>
            <a:ext cx="3333750" cy="32766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6" name="method-accent-0">
            <a:extLst xmlns:a="http://schemas.openxmlformats.org/drawingml/2006/main">
              <a:ext uri="{FF2B5EF4-FFF2-40B4-BE49-F238E27FC236}">
                <a16:creationId xmlns:a16="http://schemas.microsoft.com/office/drawing/2014/main" id="{21A2486C-C5FC-4552-B9DA-07F049BFEDE0}"/>
              </a:ext>
            </a:extLst>
          </p:cNvPr>
          <p:cNvSpPr>
            <a:spLocks xmlns:a="http://schemas.openxmlformats.org/drawingml/2006/main" noGrp="1"/>
          </p:cNvSpPr>
          <p:nvPr/>
        </p:nvSpPr>
        <p:spPr>
          <a:xfrm xmlns:a="http://schemas.openxmlformats.org/drawingml/2006/main">
            <a:off x="495300" y="2057400"/>
            <a:ext cx="3333750" cy="85725"/>
          </a:xfrm>
          <a:prstGeom xmlns:a="http://schemas.openxmlformats.org/drawingml/2006/main" prst="rect">
            <a:avLst/>
          </a:prstGeom>
          <a:solidFill xmlns:a="http://schemas.openxmlformats.org/drawingml/2006/main">
            <a:srgbClr val="C66A15"/>
          </a:solidFill>
          <a:ln xmlns:a="http://schemas.openxmlformats.org/drawingml/2006/main" w="0">
            <a:noFill/>
            <a:prstDash val="solid"/>
          </a:ln>
        </p:spPr>
      </p:sp>
      <p:sp>
        <p:nvSpPr>
          <p:cNvPr id="7" name="method-label-0">
            <a:extLst xmlns:a="http://schemas.openxmlformats.org/drawingml/2006/main">
              <a:ext uri="{FF2B5EF4-FFF2-40B4-BE49-F238E27FC236}">
                <a16:creationId xmlns:a16="http://schemas.microsoft.com/office/drawing/2014/main" id="{6EC49C34-EE84-4ACE-A7DA-6C364E77C8CE}"/>
              </a:ext>
            </a:extLst>
          </p:cNvPr>
          <p:cNvSpPr>
            <a:spLocks xmlns:a="http://schemas.openxmlformats.org/drawingml/2006/main" noGrp="1"/>
          </p:cNvSpPr>
          <p:nvPr/>
        </p:nvSpPr>
        <p:spPr>
          <a:xfrm xmlns:a="http://schemas.openxmlformats.org/drawingml/2006/main">
            <a:off x="742950" y="2352675"/>
            <a:ext cx="2819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1  Observe a move</a:t>
            </a:r>
          </a:p>
        </p:txBody>
      </p:sp>
      <p:sp>
        <p:nvSpPr>
          <p:cNvPr id="8" name="method-copy-0">
            <a:extLst xmlns:a="http://schemas.openxmlformats.org/drawingml/2006/main">
              <a:ext uri="{FF2B5EF4-FFF2-40B4-BE49-F238E27FC236}">
                <a16:creationId xmlns:a16="http://schemas.microsoft.com/office/drawing/2014/main" id="{45CCBEF0-28D5-4144-8096-B23E4DD15B76}"/>
              </a:ext>
            </a:extLst>
          </p:cNvPr>
          <p:cNvSpPr>
            <a:spLocks xmlns:a="http://schemas.openxmlformats.org/drawingml/2006/main" noGrp="1"/>
          </p:cNvSpPr>
          <p:nvPr/>
        </p:nvSpPr>
        <p:spPr>
          <a:xfrm xmlns:a="http://schemas.openxmlformats.org/drawingml/2006/main">
            <a:off x="742950" y="3105150"/>
            <a:ext cx="28194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56070"/>
                </a:solidFill>
              </a:defRPr>
            </a:pPr>
            <a:r>
              <a:rPr sz="1350" b="0">
                <a:solidFill>
                  <a:srgbClr val="556070"/>
                </a:solidFill>
              </a:rPr>
              <a:t>BEMP and BIHS identify an origin district, an observed destination district, and a migration event.</a:t>
            </a:r>
          </a:p>
        </p:txBody>
      </p:sp>
      <p:sp>
        <p:nvSpPr>
          <p:cNvPr id="9" name="method-panel-1">
            <a:extLst xmlns:a="http://schemas.openxmlformats.org/drawingml/2006/main">
              <a:ext uri="{FF2B5EF4-FFF2-40B4-BE49-F238E27FC236}">
                <a16:creationId xmlns:a16="http://schemas.microsoft.com/office/drawing/2014/main" id="{99DDD9B6-4EE5-4CF4-B12E-9E57D621F993}"/>
              </a:ext>
            </a:extLst>
          </p:cNvPr>
          <p:cNvSpPr>
            <a:spLocks xmlns:a="http://schemas.openxmlformats.org/drawingml/2006/main" noGrp="1"/>
          </p:cNvSpPr>
          <p:nvPr/>
        </p:nvSpPr>
        <p:spPr>
          <a:xfrm xmlns:a="http://schemas.openxmlformats.org/drawingml/2006/main">
            <a:off x="4305300" y="2057400"/>
            <a:ext cx="3333750" cy="32766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0" name="method-accent-1">
            <a:extLst xmlns:a="http://schemas.openxmlformats.org/drawingml/2006/main">
              <a:ext uri="{FF2B5EF4-FFF2-40B4-BE49-F238E27FC236}">
                <a16:creationId xmlns:a16="http://schemas.microsoft.com/office/drawing/2014/main" id="{F1FC4C2F-4D6F-4F33-8809-77D768CAE816}"/>
              </a:ext>
            </a:extLst>
          </p:cNvPr>
          <p:cNvSpPr>
            <a:spLocks xmlns:a="http://schemas.openxmlformats.org/drawingml/2006/main" noGrp="1"/>
          </p:cNvSpPr>
          <p:nvPr/>
        </p:nvSpPr>
        <p:spPr>
          <a:xfrm xmlns:a="http://schemas.openxmlformats.org/drawingml/2006/main">
            <a:off x="4305300" y="2057400"/>
            <a:ext cx="3333750" cy="85725"/>
          </a:xfrm>
          <a:prstGeom xmlns:a="http://schemas.openxmlformats.org/drawingml/2006/main" prst="rect">
            <a:avLst/>
          </a:prstGeom>
          <a:solidFill xmlns:a="http://schemas.openxmlformats.org/drawingml/2006/main">
            <a:srgbClr val="1877C9"/>
          </a:solidFill>
          <a:ln xmlns:a="http://schemas.openxmlformats.org/drawingml/2006/main" w="0">
            <a:noFill/>
            <a:prstDash val="solid"/>
          </a:ln>
        </p:spPr>
      </p:sp>
      <p:sp>
        <p:nvSpPr>
          <p:cNvPr id="11" name="method-label-1">
            <a:extLst xmlns:a="http://schemas.openxmlformats.org/drawingml/2006/main">
              <a:ext uri="{FF2B5EF4-FFF2-40B4-BE49-F238E27FC236}">
                <a16:creationId xmlns:a16="http://schemas.microsoft.com/office/drawing/2014/main" id="{318E23CA-0A05-47F4-89FC-EC482CA98D1B}"/>
              </a:ext>
            </a:extLst>
          </p:cNvPr>
          <p:cNvSpPr>
            <a:spLocks xmlns:a="http://schemas.openxmlformats.org/drawingml/2006/main" noGrp="1"/>
          </p:cNvSpPr>
          <p:nvPr/>
        </p:nvSpPr>
        <p:spPr>
          <a:xfrm xmlns:a="http://schemas.openxmlformats.org/drawingml/2006/main">
            <a:off x="4552950" y="2352675"/>
            <a:ext cx="2819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2  Offer 64 districts</a:t>
            </a:r>
          </a:p>
        </p:txBody>
      </p:sp>
      <p:sp>
        <p:nvSpPr>
          <p:cNvPr id="12" name="method-copy-1">
            <a:extLst xmlns:a="http://schemas.openxmlformats.org/drawingml/2006/main">
              <a:ext uri="{FF2B5EF4-FFF2-40B4-BE49-F238E27FC236}">
                <a16:creationId xmlns:a16="http://schemas.microsoft.com/office/drawing/2014/main" id="{7A325E3E-A4CB-4CB8-B26F-6CADF868598A}"/>
              </a:ext>
            </a:extLst>
          </p:cNvPr>
          <p:cNvSpPr>
            <a:spLocks xmlns:a="http://schemas.openxmlformats.org/drawingml/2006/main" noGrp="1"/>
          </p:cNvSpPr>
          <p:nvPr/>
        </p:nvSpPr>
        <p:spPr>
          <a:xfrm xmlns:a="http://schemas.openxmlformats.org/drawingml/2006/main">
            <a:off x="4552950" y="3105150"/>
            <a:ext cx="28194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56070"/>
                </a:solidFill>
              </a:defRPr>
            </a:pPr>
            <a:r>
              <a:rPr sz="1350" b="0">
                <a:solidFill>
                  <a:srgbClr val="556070"/>
                </a:solidFill>
              </a:rPr>
              <a:t>Every Bangladeshi district is a candidate. The baseline uses distance and population; the expanded model adds GIS measures.</a:t>
            </a:r>
          </a:p>
        </p:txBody>
      </p:sp>
      <p:sp>
        <p:nvSpPr>
          <p:cNvPr id="13" name="method-panel-2">
            <a:extLst xmlns:a="http://schemas.openxmlformats.org/drawingml/2006/main">
              <a:ext uri="{FF2B5EF4-FFF2-40B4-BE49-F238E27FC236}">
                <a16:creationId xmlns:a16="http://schemas.microsoft.com/office/drawing/2014/main" id="{B77A94E1-D672-4017-B0CC-1770BAEBF9AA}"/>
              </a:ext>
            </a:extLst>
          </p:cNvPr>
          <p:cNvSpPr>
            <a:spLocks xmlns:a="http://schemas.openxmlformats.org/drawingml/2006/main" noGrp="1"/>
          </p:cNvSpPr>
          <p:nvPr/>
        </p:nvSpPr>
        <p:spPr>
          <a:xfrm xmlns:a="http://schemas.openxmlformats.org/drawingml/2006/main">
            <a:off x="8115300" y="2057400"/>
            <a:ext cx="3333750" cy="32766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4" name="method-accent-2">
            <a:extLst xmlns:a="http://schemas.openxmlformats.org/drawingml/2006/main">
              <a:ext uri="{FF2B5EF4-FFF2-40B4-BE49-F238E27FC236}">
                <a16:creationId xmlns:a16="http://schemas.microsoft.com/office/drawing/2014/main" id="{75406AA4-E681-44FA-BEB8-AA95603193A8}"/>
              </a:ext>
            </a:extLst>
          </p:cNvPr>
          <p:cNvSpPr>
            <a:spLocks xmlns:a="http://schemas.openxmlformats.org/drawingml/2006/main" noGrp="1"/>
          </p:cNvSpPr>
          <p:nvPr/>
        </p:nvSpPr>
        <p:spPr>
          <a:xfrm xmlns:a="http://schemas.openxmlformats.org/drawingml/2006/main">
            <a:off x="8115300" y="2057400"/>
            <a:ext cx="3333750" cy="85725"/>
          </a:xfrm>
          <a:prstGeom xmlns:a="http://schemas.openxmlformats.org/drawingml/2006/main" prst="rect">
            <a:avLst/>
          </a:prstGeom>
          <a:solidFill xmlns:a="http://schemas.openxmlformats.org/drawingml/2006/main">
            <a:srgbClr val="147D64"/>
          </a:solidFill>
          <a:ln xmlns:a="http://schemas.openxmlformats.org/drawingml/2006/main" w="0">
            <a:noFill/>
            <a:prstDash val="solid"/>
          </a:ln>
        </p:spPr>
      </p:sp>
      <p:sp>
        <p:nvSpPr>
          <p:cNvPr id="15" name="method-label-2">
            <a:extLst xmlns:a="http://schemas.openxmlformats.org/drawingml/2006/main">
              <a:ext uri="{FF2B5EF4-FFF2-40B4-BE49-F238E27FC236}">
                <a16:creationId xmlns:a16="http://schemas.microsoft.com/office/drawing/2014/main" id="{AD800374-106B-46EB-9D63-9C17163CE4A1}"/>
              </a:ext>
            </a:extLst>
          </p:cNvPr>
          <p:cNvSpPr>
            <a:spLocks xmlns:a="http://schemas.openxmlformats.org/drawingml/2006/main" noGrp="1"/>
          </p:cNvSpPr>
          <p:nvPr/>
        </p:nvSpPr>
        <p:spPr>
          <a:xfrm xmlns:a="http://schemas.openxmlformats.org/drawingml/2006/main">
            <a:off x="8362950" y="2352675"/>
            <a:ext cx="2819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3  Score the choice</a:t>
            </a:r>
          </a:p>
        </p:txBody>
      </p:sp>
      <p:sp>
        <p:nvSpPr>
          <p:cNvPr id="16" name="method-copy-2">
            <a:extLst xmlns:a="http://schemas.openxmlformats.org/drawingml/2006/main">
              <a:ext uri="{FF2B5EF4-FFF2-40B4-BE49-F238E27FC236}">
                <a16:creationId xmlns:a16="http://schemas.microsoft.com/office/drawing/2014/main" id="{A4FBA87C-AD49-443C-8BBA-76B9631ADC98}"/>
              </a:ext>
            </a:extLst>
          </p:cNvPr>
          <p:cNvSpPr>
            <a:spLocks xmlns:a="http://schemas.openxmlformats.org/drawingml/2006/main" noGrp="1"/>
          </p:cNvSpPr>
          <p:nvPr/>
        </p:nvSpPr>
        <p:spPr>
          <a:xfrm xmlns:a="http://schemas.openxmlformats.org/drawingml/2006/main">
            <a:off x="8362950" y="3105150"/>
            <a:ext cx="28194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56070"/>
                </a:solidFill>
              </a:defRPr>
            </a:pPr>
            <a:r>
              <a:rPr sz="1350" b="0">
                <a:solidFill>
                  <a:srgbClr val="556070"/>
                </a:solidFill>
              </a:rPr>
              <a:t>Grouped cross-validation asks how much probability each model assigns to the destination that was actually chosen.</a:t>
            </a:r>
          </a:p>
        </p:txBody>
      </p:sp>
      <p:sp>
        <p:nvSpPr>
          <p:cNvPr id="17" name="method-footer">
            <a:extLst xmlns:a="http://schemas.openxmlformats.org/drawingml/2006/main">
              <a:ext uri="{FF2B5EF4-FFF2-40B4-BE49-F238E27FC236}">
                <a16:creationId xmlns:a16="http://schemas.microsoft.com/office/drawing/2014/main" id="{694C127D-01BC-4053-B3E3-1E1CC5EC5098}"/>
              </a:ext>
            </a:extLst>
          </p:cNvPr>
          <p:cNvSpPr>
            <a:spLocks xmlns:a="http://schemas.openxmlformats.org/drawingml/2006/main" noGrp="1"/>
          </p:cNvSpPr>
          <p:nvPr/>
        </p:nvSpPr>
        <p:spPr>
          <a:xfrm xmlns:a="http://schemas.openxmlformats.org/drawingml/2006/main">
            <a:off x="4953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Held-out origin groups prevent the model from memorizing local origin patterns.</a:t>
            </a:r>
          </a:p>
        </p:txBody>
      </p:sp>
    </p:spTree>
    <p:extLst>
      <p:ext uri="{BB962C8B-B14F-4D97-AF65-F5344CB8AC3E}">
        <p14:creationId xmlns:p14="http://schemas.microsoft.com/office/powerpoint/2010/main" val="4625064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4">
            <a:extLst xmlns:a="http://schemas.openxmlformats.org/drawingml/2006/main">
              <a:ext uri="{FF2B5EF4-FFF2-40B4-BE49-F238E27FC236}">
                <a16:creationId xmlns:a16="http://schemas.microsoft.com/office/drawing/2014/main" id="{E09FAD99-DCDD-40EB-9B5A-84D46B6477E4}"/>
              </a:ext>
            </a:extLst>
          </p:cNvPr>
          <p:cNvSpPr>
            <a:spLocks xmlns:a="http://schemas.openxmlformats.org/drawingml/2006/main" noGrp="1"/>
          </p:cNvSpPr>
          <p:nvPr/>
        </p:nvSpPr>
        <p:spPr>
          <a:xfrm xmlns:a="http://schemas.openxmlformats.org/drawingml/2006/main">
            <a:off x="4953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877C9"/>
                </a:solidFill>
              </a:defRPr>
            </a:pPr>
            <a:r>
              <a:rPr sz="975" b="1">
                <a:solidFill>
                  <a:srgbClr val="1877C9"/>
                </a:solidFill>
              </a:rPr>
              <a:t>MAIN RESULT</a:t>
            </a:r>
          </a:p>
        </p:txBody>
      </p:sp>
      <p:sp>
        <p:nvSpPr>
          <p:cNvPr id="2" name="title-4">
            <a:extLst xmlns:a="http://schemas.openxmlformats.org/drawingml/2006/main">
              <a:ext uri="{FF2B5EF4-FFF2-40B4-BE49-F238E27FC236}">
                <a16:creationId xmlns:a16="http://schemas.microsoft.com/office/drawing/2014/main" id="{17D41AE2-C4C6-4F08-96C3-D394AFBDA6CE}"/>
              </a:ext>
            </a:extLst>
          </p:cNvPr>
          <p:cNvSpPr>
            <a:spLocks xmlns:a="http://schemas.openxmlformats.org/drawingml/2006/main" noGrp="1"/>
          </p:cNvSpPr>
          <p:nvPr/>
        </p:nvSpPr>
        <p:spPr>
          <a:xfrm xmlns:a="http://schemas.openxmlformats.org/drawingml/2006/main">
            <a:off x="495300" y="666750"/>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GIS raises held-out destination probability in both surveys</a:t>
            </a:r>
          </a:p>
        </p:txBody>
      </p:sp>
      <p:sp>
        <p:nvSpPr>
          <p:cNvPr id="3" name="header-rule-4">
            <a:extLst xmlns:a="http://schemas.openxmlformats.org/drawingml/2006/main">
              <a:ext uri="{FF2B5EF4-FFF2-40B4-BE49-F238E27FC236}">
                <a16:creationId xmlns:a16="http://schemas.microsoft.com/office/drawing/2014/main" id="{565C21B5-E87D-430C-8689-8DB1B5D48AC2}"/>
              </a:ext>
            </a:extLst>
          </p:cNvPr>
          <p:cNvSpPr>
            <a:spLocks xmlns:a="http://schemas.openxmlformats.org/drawingml/2006/main" noGrp="1"/>
          </p:cNvSpPr>
          <p:nvPr/>
        </p:nvSpPr>
        <p:spPr>
          <a:xfrm xmlns:a="http://schemas.openxmlformats.org/drawingml/2006/main">
            <a:off x="495300" y="1438275"/>
            <a:ext cx="112014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4" name="number-4">
            <a:extLst xmlns:a="http://schemas.openxmlformats.org/drawingml/2006/main">
              <a:ext uri="{FF2B5EF4-FFF2-40B4-BE49-F238E27FC236}">
                <a16:creationId xmlns:a16="http://schemas.microsoft.com/office/drawing/2014/main" id="{5867C425-9383-44D3-8AF7-0AC1DDDB799C}"/>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9d9f41386d4bee"/>
          <a:stretch xmlns:a="http://schemas.openxmlformats.org/drawingml/2006/main"/>
        </p:blipFill>
        <p:spPr>
          <a:xfrm xmlns:a="http://schemas.openxmlformats.org/drawingml/2006/main">
            <a:off x="845626" y="1695450"/>
            <a:ext cx="6538347" cy="4286250"/>
          </a:xfrm>
          <a:prstGeom xmlns:a="http://schemas.openxmlformats.org/drawingml/2006/main" prst="rect">
            <a:avLst/>
          </a:prstGeom>
        </p:spPr>
      </p:pic>
      <p:sp>
        <p:nvSpPr>
          <p:cNvPr id="6" name="result-rail">
            <a:extLst xmlns:a="http://schemas.openxmlformats.org/drawingml/2006/main">
              <a:ext uri="{FF2B5EF4-FFF2-40B4-BE49-F238E27FC236}">
                <a16:creationId xmlns:a16="http://schemas.microsoft.com/office/drawing/2014/main" id="{439950BF-D5E5-4004-AED7-718B0BACA447}"/>
              </a:ext>
            </a:extLst>
          </p:cNvPr>
          <p:cNvSpPr>
            <a:spLocks xmlns:a="http://schemas.openxmlformats.org/drawingml/2006/main" noGrp="1"/>
          </p:cNvSpPr>
          <p:nvPr/>
        </p:nvSpPr>
        <p:spPr>
          <a:xfrm xmlns:a="http://schemas.openxmlformats.org/drawingml/2006/main">
            <a:off x="8096250" y="1809750"/>
            <a:ext cx="3600450" cy="37147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7" name="result-stat-1">
            <a:extLst xmlns:a="http://schemas.openxmlformats.org/drawingml/2006/main">
              <a:ext uri="{FF2B5EF4-FFF2-40B4-BE49-F238E27FC236}">
                <a16:creationId xmlns:a16="http://schemas.microsoft.com/office/drawing/2014/main" id="{3D82ECFE-DE5D-4185-8B16-412307569454}"/>
              </a:ext>
            </a:extLst>
          </p:cNvPr>
          <p:cNvSpPr>
            <a:spLocks xmlns:a="http://schemas.openxmlformats.org/drawingml/2006/main" noGrp="1"/>
          </p:cNvSpPr>
          <p:nvPr/>
        </p:nvSpPr>
        <p:spPr>
          <a:xfrm xmlns:a="http://schemas.openxmlformats.org/drawingml/2006/main">
            <a:off x="8382000" y="22098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877C9"/>
                </a:solidFill>
              </a:defRPr>
            </a:pPr>
            <a:r>
              <a:rPr sz="2850" b="1">
                <a:solidFill>
                  <a:srgbClr val="1877C9"/>
                </a:solidFill>
              </a:rPr>
              <a:t>+10.8 pp</a:t>
            </a:r>
          </a:p>
        </p:txBody>
      </p:sp>
      <p:sp>
        <p:nvSpPr>
          <p:cNvPr id="8" name="result-desc-1">
            <a:extLst xmlns:a="http://schemas.openxmlformats.org/drawingml/2006/main">
              <a:ext uri="{FF2B5EF4-FFF2-40B4-BE49-F238E27FC236}">
                <a16:creationId xmlns:a16="http://schemas.microsoft.com/office/drawing/2014/main" id="{9F968DE4-2337-4B3D-9C1A-DA8D25F3681C}"/>
              </a:ext>
            </a:extLst>
          </p:cNvPr>
          <p:cNvSpPr>
            <a:spLocks xmlns:a="http://schemas.openxmlformats.org/drawingml/2006/main" noGrp="1"/>
          </p:cNvSpPr>
          <p:nvPr/>
        </p:nvSpPr>
        <p:spPr>
          <a:xfrm xmlns:a="http://schemas.openxmlformats.org/drawingml/2006/main">
            <a:off x="8382000" y="28765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56070"/>
                </a:solidFill>
              </a:defRPr>
            </a:pPr>
            <a:r>
              <a:rPr sz="1350" b="0">
                <a:solidFill>
                  <a:srgbClr val="556070"/>
                </a:solidFill>
              </a:rPr>
              <a:t>BEMP shock-linked moves</a:t>
            </a:r>
          </a:p>
          <a:p xmlns:a="http://schemas.openxmlformats.org/drawingml/2006/main">
            <a:pPr algn="l">
              <a:defRPr sz="1350" b="0">
                <a:solidFill>
                  <a:srgbClr val="556070"/>
                </a:solidFill>
              </a:defRPr>
            </a:pPr>
            <a:r>
              <a:rPr sz="1350" b="0">
                <a:solidFill>
                  <a:srgbClr val="556070"/>
                </a:solidFill>
              </a:rPr>
              <a:t>184 events</a:t>
            </a:r>
          </a:p>
        </p:txBody>
      </p:sp>
      <p:sp>
        <p:nvSpPr>
          <p:cNvPr id="9" name="result-rule">
            <a:extLst xmlns:a="http://schemas.openxmlformats.org/drawingml/2006/main">
              <a:ext uri="{FF2B5EF4-FFF2-40B4-BE49-F238E27FC236}">
                <a16:creationId xmlns:a16="http://schemas.microsoft.com/office/drawing/2014/main" id="{4F1C9514-5564-4294-8A74-05D41048A2BD}"/>
              </a:ext>
            </a:extLst>
          </p:cNvPr>
          <p:cNvSpPr>
            <a:spLocks xmlns:a="http://schemas.openxmlformats.org/drawingml/2006/main" noGrp="1"/>
          </p:cNvSpPr>
          <p:nvPr/>
        </p:nvSpPr>
        <p:spPr>
          <a:xfrm xmlns:a="http://schemas.openxmlformats.org/drawingml/2006/main">
            <a:off x="8382000" y="3714750"/>
            <a:ext cx="2724150" cy="19050"/>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10" name="result-stat-2">
            <a:extLst xmlns:a="http://schemas.openxmlformats.org/drawingml/2006/main">
              <a:ext uri="{FF2B5EF4-FFF2-40B4-BE49-F238E27FC236}">
                <a16:creationId xmlns:a16="http://schemas.microsoft.com/office/drawing/2014/main" id="{83053926-72E7-4492-BCDD-49242CD37AFE}"/>
              </a:ext>
            </a:extLst>
          </p:cNvPr>
          <p:cNvSpPr>
            <a:spLocks xmlns:a="http://schemas.openxmlformats.org/drawingml/2006/main" noGrp="1"/>
          </p:cNvSpPr>
          <p:nvPr/>
        </p:nvSpPr>
        <p:spPr>
          <a:xfrm xmlns:a="http://schemas.openxmlformats.org/drawingml/2006/main">
            <a:off x="8382000" y="401955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47D64"/>
                </a:solidFill>
              </a:defRPr>
            </a:pPr>
            <a:r>
              <a:rPr sz="2850" b="1">
                <a:solidFill>
                  <a:srgbClr val="147D64"/>
                </a:solidFill>
              </a:rPr>
              <a:t>+9.8 pp</a:t>
            </a:r>
          </a:p>
        </p:txBody>
      </p:sp>
      <p:sp>
        <p:nvSpPr>
          <p:cNvPr id="11" name="result-desc-2">
            <a:extLst xmlns:a="http://schemas.openxmlformats.org/drawingml/2006/main">
              <a:ext uri="{FF2B5EF4-FFF2-40B4-BE49-F238E27FC236}">
                <a16:creationId xmlns:a16="http://schemas.microsoft.com/office/drawing/2014/main" id="{4B324D2C-AC66-41F7-92B5-CC1E425B9FAB}"/>
              </a:ext>
            </a:extLst>
          </p:cNvPr>
          <p:cNvSpPr>
            <a:spLocks xmlns:a="http://schemas.openxmlformats.org/drawingml/2006/main" noGrp="1"/>
          </p:cNvSpPr>
          <p:nvPr/>
        </p:nvSpPr>
        <p:spPr>
          <a:xfrm xmlns:a="http://schemas.openxmlformats.org/drawingml/2006/main">
            <a:off x="8382000" y="468630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56070"/>
                </a:solidFill>
              </a:defRPr>
            </a:pPr>
            <a:r>
              <a:rPr sz="1350" b="0">
                <a:solidFill>
                  <a:srgbClr val="556070"/>
                </a:solidFill>
              </a:rPr>
              <a:t>BIHS erosion-linked moves</a:t>
            </a:r>
          </a:p>
          <a:p xmlns:a="http://schemas.openxmlformats.org/drawingml/2006/main">
            <a:pPr algn="l">
              <a:defRPr sz="1350" b="0">
                <a:solidFill>
                  <a:srgbClr val="556070"/>
                </a:solidFill>
              </a:defRPr>
            </a:pPr>
            <a:r>
              <a:rPr sz="1350" b="0">
                <a:solidFill>
                  <a:srgbClr val="556070"/>
                </a:solidFill>
              </a:rPr>
              <a:t>123 events</a:t>
            </a:r>
          </a:p>
        </p:txBody>
      </p:sp>
      <p:sp>
        <p:nvSpPr>
          <p:cNvPr id="12" name="result-note">
            <a:extLst xmlns:a="http://schemas.openxmlformats.org/drawingml/2006/main">
              <a:ext uri="{FF2B5EF4-FFF2-40B4-BE49-F238E27FC236}">
                <a16:creationId xmlns:a16="http://schemas.microsoft.com/office/drawing/2014/main" id="{615E4B6C-2566-4CEF-9F9A-6F40F84F7196}"/>
              </a:ext>
            </a:extLst>
          </p:cNvPr>
          <p:cNvSpPr>
            <a:spLocks xmlns:a="http://schemas.openxmlformats.org/drawingml/2006/main" noGrp="1"/>
          </p:cNvSpPr>
          <p:nvPr/>
        </p:nvSpPr>
        <p:spPr>
          <a:xfrm xmlns:a="http://schemas.openxmlformats.org/drawingml/2006/main">
            <a:off x="8096250" y="5743575"/>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56070"/>
                </a:solidFill>
              </a:defRPr>
            </a:pPr>
            <a:r>
              <a:rPr sz="1050" b="0">
                <a:solidFill>
                  <a:srgbClr val="556070"/>
                </a:solidFill>
              </a:rPr>
              <a:t>Percentage-point gains in the probability assigned to the destination actually chosen.</a:t>
            </a:r>
          </a:p>
        </p:txBody>
      </p:sp>
    </p:spTree>
    <p:extLst>
      <p:ext uri="{BB962C8B-B14F-4D97-AF65-F5344CB8AC3E}">
        <p14:creationId xmlns:p14="http://schemas.microsoft.com/office/powerpoint/2010/main" val="1472495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5">
            <a:extLst xmlns:a="http://schemas.openxmlformats.org/drawingml/2006/main">
              <a:ext uri="{FF2B5EF4-FFF2-40B4-BE49-F238E27FC236}">
                <a16:creationId xmlns:a16="http://schemas.microsoft.com/office/drawing/2014/main" id="{A15D3EA3-B9FA-4F42-9A1D-8FD159A56DF9}"/>
              </a:ext>
            </a:extLst>
          </p:cNvPr>
          <p:cNvSpPr>
            <a:spLocks xmlns:a="http://schemas.openxmlformats.org/drawingml/2006/main" noGrp="1"/>
          </p:cNvSpPr>
          <p:nvPr/>
        </p:nvSpPr>
        <p:spPr>
          <a:xfrm xmlns:a="http://schemas.openxmlformats.org/drawingml/2006/main">
            <a:off x="4953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877C9"/>
                </a:solidFill>
              </a:defRPr>
            </a:pPr>
            <a:r>
              <a:rPr sz="975" b="1">
                <a:solidFill>
                  <a:srgbClr val="1877C9"/>
                </a:solidFill>
              </a:rPr>
              <a:t>EXTERNAL VALIDATION</a:t>
            </a:r>
          </a:p>
        </p:txBody>
      </p:sp>
      <p:sp>
        <p:nvSpPr>
          <p:cNvPr id="2" name="title-5">
            <a:extLst xmlns:a="http://schemas.openxmlformats.org/drawingml/2006/main">
              <a:ext uri="{FF2B5EF4-FFF2-40B4-BE49-F238E27FC236}">
                <a16:creationId xmlns:a16="http://schemas.microsoft.com/office/drawing/2014/main" id="{CACE2792-E06E-4A40-B78E-8876CDD06EF9}"/>
              </a:ext>
            </a:extLst>
          </p:cNvPr>
          <p:cNvSpPr>
            <a:spLocks xmlns:a="http://schemas.openxmlformats.org/drawingml/2006/main" noGrp="1"/>
          </p:cNvSpPr>
          <p:nvPr/>
        </p:nvSpPr>
        <p:spPr>
          <a:xfrm xmlns:a="http://schemas.openxmlformats.org/drawingml/2006/main">
            <a:off x="495300" y="666750"/>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Destination ranking travels; stay-versus-leave does not</a:t>
            </a:r>
          </a:p>
        </p:txBody>
      </p:sp>
      <p:sp>
        <p:nvSpPr>
          <p:cNvPr id="3" name="header-rule-5">
            <a:extLst xmlns:a="http://schemas.openxmlformats.org/drawingml/2006/main">
              <a:ext uri="{FF2B5EF4-FFF2-40B4-BE49-F238E27FC236}">
                <a16:creationId xmlns:a16="http://schemas.microsoft.com/office/drawing/2014/main" id="{814538AD-3C6A-4D3F-A121-0560323CA196}"/>
              </a:ext>
            </a:extLst>
          </p:cNvPr>
          <p:cNvSpPr>
            <a:spLocks xmlns:a="http://schemas.openxmlformats.org/drawingml/2006/main" noGrp="1"/>
          </p:cNvSpPr>
          <p:nvPr/>
        </p:nvSpPr>
        <p:spPr>
          <a:xfrm xmlns:a="http://schemas.openxmlformats.org/drawingml/2006/main">
            <a:off x="495300" y="1438275"/>
            <a:ext cx="112014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4" name="number-5">
            <a:extLst xmlns:a="http://schemas.openxmlformats.org/drawingml/2006/main">
              <a:ext uri="{FF2B5EF4-FFF2-40B4-BE49-F238E27FC236}">
                <a16:creationId xmlns:a16="http://schemas.microsoft.com/office/drawing/2014/main" id="{BA52AE27-CA87-4BC5-9449-663788BD6440}"/>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6c63e85a674256"/>
          <a:stretch xmlns:a="http://schemas.openxmlformats.org/drawingml/2006/main"/>
        </p:blipFill>
        <p:spPr>
          <a:xfrm xmlns:a="http://schemas.openxmlformats.org/drawingml/2006/main">
            <a:off x="495300" y="1773331"/>
            <a:ext cx="6762750" cy="3978088"/>
          </a:xfrm>
          <a:prstGeom xmlns:a="http://schemas.openxmlformats.org/drawingml/2006/main" prst="rect">
            <a:avLst/>
          </a:prstGeom>
        </p:spPr>
      </p:pic>
      <p:sp>
        <p:nvSpPr>
          <p:cNvPr id="6" name="validation-head">
            <a:extLst xmlns:a="http://schemas.openxmlformats.org/drawingml/2006/main">
              <a:ext uri="{FF2B5EF4-FFF2-40B4-BE49-F238E27FC236}">
                <a16:creationId xmlns:a16="http://schemas.microsoft.com/office/drawing/2014/main" id="{7DCCA5FA-21AD-406F-A47C-1C06C7AC6E47}"/>
              </a:ext>
            </a:extLst>
          </p:cNvPr>
          <p:cNvSpPr>
            <a:spLocks xmlns:a="http://schemas.openxmlformats.org/drawingml/2006/main" noGrp="1"/>
          </p:cNvSpPr>
          <p:nvPr/>
        </p:nvSpPr>
        <p:spPr>
          <a:xfrm xmlns:a="http://schemas.openxmlformats.org/drawingml/2006/main">
            <a:off x="7810500" y="195262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What survives the harder test</a:t>
            </a:r>
          </a:p>
        </p:txBody>
      </p:sp>
      <p:sp>
        <p:nvSpPr>
          <p:cNvPr id="7" name="validation-blue">
            <a:extLst xmlns:a="http://schemas.openxmlformats.org/drawingml/2006/main">
              <a:ext uri="{FF2B5EF4-FFF2-40B4-BE49-F238E27FC236}">
                <a16:creationId xmlns:a16="http://schemas.microsoft.com/office/drawing/2014/main" id="{38AA453D-D1DD-479F-B057-DC372C72D66A}"/>
              </a:ext>
            </a:extLst>
          </p:cNvPr>
          <p:cNvSpPr>
            <a:spLocks xmlns:a="http://schemas.openxmlformats.org/drawingml/2006/main" noGrp="1"/>
          </p:cNvSpPr>
          <p:nvPr/>
        </p:nvSpPr>
        <p:spPr>
          <a:xfrm xmlns:a="http://schemas.openxmlformats.org/drawingml/2006/main">
            <a:off x="7810500" y="2619375"/>
            <a:ext cx="133350" cy="1000125"/>
          </a:xfrm>
          <a:prstGeom xmlns:a="http://schemas.openxmlformats.org/drawingml/2006/main" prst="rect">
            <a:avLst/>
          </a:prstGeom>
          <a:solidFill xmlns:a="http://schemas.openxmlformats.org/drawingml/2006/main">
            <a:srgbClr val="1877C9"/>
          </a:solidFill>
          <a:ln xmlns:a="http://schemas.openxmlformats.org/drawingml/2006/main" w="0">
            <a:noFill/>
            <a:prstDash val="solid"/>
          </a:ln>
        </p:spPr>
      </p:sp>
      <p:sp>
        <p:nvSpPr>
          <p:cNvPr id="8" name="validation-good">
            <a:extLst xmlns:a="http://schemas.openxmlformats.org/drawingml/2006/main">
              <a:ext uri="{FF2B5EF4-FFF2-40B4-BE49-F238E27FC236}">
                <a16:creationId xmlns:a16="http://schemas.microsoft.com/office/drawing/2014/main" id="{EEAD4349-AD66-4665-84D1-96EF4295EFA0}"/>
              </a:ext>
            </a:extLst>
          </p:cNvPr>
          <p:cNvSpPr>
            <a:spLocks xmlns:a="http://schemas.openxmlformats.org/drawingml/2006/main" noGrp="1"/>
          </p:cNvSpPr>
          <p:nvPr/>
        </p:nvSpPr>
        <p:spPr>
          <a:xfrm xmlns:a="http://schemas.openxmlformats.org/drawingml/2006/main">
            <a:off x="8172450" y="25717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Among people who moved, GIS features continue to improve destination ranking across many held-out origins.</a:t>
            </a:r>
          </a:p>
        </p:txBody>
      </p:sp>
      <p:sp>
        <p:nvSpPr>
          <p:cNvPr id="9" name="validation-orange">
            <a:extLst xmlns:a="http://schemas.openxmlformats.org/drawingml/2006/main">
              <a:ext uri="{FF2B5EF4-FFF2-40B4-BE49-F238E27FC236}">
                <a16:creationId xmlns:a16="http://schemas.microsoft.com/office/drawing/2014/main" id="{D06E6E16-109D-4223-9871-C7106A57C213}"/>
              </a:ext>
            </a:extLst>
          </p:cNvPr>
          <p:cNvSpPr>
            <a:spLocks xmlns:a="http://schemas.openxmlformats.org/drawingml/2006/main" noGrp="1"/>
          </p:cNvSpPr>
          <p:nvPr/>
        </p:nvSpPr>
        <p:spPr>
          <a:xfrm xmlns:a="http://schemas.openxmlformats.org/drawingml/2006/main">
            <a:off x="7810500" y="4143375"/>
            <a:ext cx="133350" cy="1000125"/>
          </a:xfrm>
          <a:prstGeom xmlns:a="http://schemas.openxmlformats.org/drawingml/2006/main" prst="rect">
            <a:avLst/>
          </a:prstGeom>
          <a:solidFill xmlns:a="http://schemas.openxmlformats.org/drawingml/2006/main">
            <a:srgbClr val="C66A15"/>
          </a:solidFill>
          <a:ln xmlns:a="http://schemas.openxmlformats.org/drawingml/2006/main" w="0">
            <a:noFill/>
            <a:prstDash val="solid"/>
          </a:ln>
        </p:spPr>
      </p:sp>
      <p:sp>
        <p:nvSpPr>
          <p:cNvPr id="10" name="validation-caution">
            <a:extLst xmlns:a="http://schemas.openxmlformats.org/drawingml/2006/main">
              <a:ext uri="{FF2B5EF4-FFF2-40B4-BE49-F238E27FC236}">
                <a16:creationId xmlns:a16="http://schemas.microsoft.com/office/drawing/2014/main" id="{09B8D519-C50B-4BEF-AB8D-22B250C9BCA5}"/>
              </a:ext>
            </a:extLst>
          </p:cNvPr>
          <p:cNvSpPr>
            <a:spLocks xmlns:a="http://schemas.openxmlformats.org/drawingml/2006/main" noGrp="1"/>
          </p:cNvSpPr>
          <p:nvPr/>
        </p:nvSpPr>
        <p:spPr>
          <a:xfrm xmlns:a="http://schemas.openxmlformats.org/drawingml/2006/main">
            <a:off x="8172450" y="40957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A model trained on one origin does not reliably predict who leaves another origin. That is a different scientific problem.</a:t>
            </a:r>
          </a:p>
        </p:txBody>
      </p:sp>
    </p:spTree>
    <p:extLst>
      <p:ext uri="{BB962C8B-B14F-4D97-AF65-F5344CB8AC3E}">
        <p14:creationId xmlns:p14="http://schemas.microsoft.com/office/powerpoint/2010/main" val="4394339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6">
            <a:extLst xmlns:a="http://schemas.openxmlformats.org/drawingml/2006/main">
              <a:ext uri="{FF2B5EF4-FFF2-40B4-BE49-F238E27FC236}">
                <a16:creationId xmlns:a16="http://schemas.microsoft.com/office/drawing/2014/main" id="{63C705D8-CC9B-4AEA-80D7-781217C09D17}"/>
              </a:ext>
            </a:extLst>
          </p:cNvPr>
          <p:cNvSpPr>
            <a:spLocks xmlns:a="http://schemas.openxmlformats.org/drawingml/2006/main" noGrp="1"/>
          </p:cNvSpPr>
          <p:nvPr/>
        </p:nvSpPr>
        <p:spPr>
          <a:xfrm xmlns:a="http://schemas.openxmlformats.org/drawingml/2006/main">
            <a:off x="4953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877C9"/>
                </a:solidFill>
              </a:defRPr>
            </a:pPr>
            <a:r>
              <a:rPr sz="975" b="1">
                <a:solidFill>
                  <a:srgbClr val="1877C9"/>
                </a:solidFill>
              </a:rPr>
              <a:t>WHAT THIS STUDY CANNOT YET ANSWER</a:t>
            </a:r>
          </a:p>
        </p:txBody>
      </p:sp>
      <p:sp>
        <p:nvSpPr>
          <p:cNvPr id="2" name="title-6">
            <a:extLst xmlns:a="http://schemas.openxmlformats.org/drawingml/2006/main">
              <a:ext uri="{FF2B5EF4-FFF2-40B4-BE49-F238E27FC236}">
                <a16:creationId xmlns:a16="http://schemas.microsoft.com/office/drawing/2014/main" id="{6B839A03-2574-440A-BF42-AA4408A94FC0}"/>
              </a:ext>
            </a:extLst>
          </p:cNvPr>
          <p:cNvSpPr>
            <a:spLocks xmlns:a="http://schemas.openxmlformats.org/drawingml/2006/main" noGrp="1"/>
          </p:cNvSpPr>
          <p:nvPr/>
        </p:nvSpPr>
        <p:spPr>
          <a:xfrm xmlns:a="http://schemas.openxmlformats.org/drawingml/2006/main">
            <a:off x="495300" y="666750"/>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The result sharpens the next measurement problem</a:t>
            </a:r>
          </a:p>
        </p:txBody>
      </p:sp>
      <p:sp>
        <p:nvSpPr>
          <p:cNvPr id="3" name="header-rule-6">
            <a:extLst xmlns:a="http://schemas.openxmlformats.org/drawingml/2006/main">
              <a:ext uri="{FF2B5EF4-FFF2-40B4-BE49-F238E27FC236}">
                <a16:creationId xmlns:a16="http://schemas.microsoft.com/office/drawing/2014/main" id="{744B27A8-4669-4F0E-BAED-A0F7F48B17DB}"/>
              </a:ext>
            </a:extLst>
          </p:cNvPr>
          <p:cNvSpPr>
            <a:spLocks xmlns:a="http://schemas.openxmlformats.org/drawingml/2006/main" noGrp="1"/>
          </p:cNvSpPr>
          <p:nvPr/>
        </p:nvSpPr>
        <p:spPr>
          <a:xfrm xmlns:a="http://schemas.openxmlformats.org/drawingml/2006/main">
            <a:off x="495300" y="1438275"/>
            <a:ext cx="112014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4" name="number-6">
            <a:extLst xmlns:a="http://schemas.openxmlformats.org/drawingml/2006/main">
              <a:ext uri="{FF2B5EF4-FFF2-40B4-BE49-F238E27FC236}">
                <a16:creationId xmlns:a16="http://schemas.microsoft.com/office/drawing/2014/main" id="{A210DDC8-6C02-4C9B-ACC1-9FC4E0B9DD43}"/>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56070"/>
                </a:solidFill>
              </a:defRPr>
            </a:pPr>
            <a:r>
              <a:rPr sz="825" b="0">
                <a:solidFill>
                  <a:srgbClr val="556070"/>
                </a:solidFill>
              </a:rPr>
              <a:t>06</a:t>
            </a:r>
          </a:p>
        </p:txBody>
      </p:sp>
      <p:sp>
        <p:nvSpPr>
          <p:cNvPr id="5" name="limits-lead">
            <a:extLst xmlns:a="http://schemas.openxmlformats.org/drawingml/2006/main">
              <a:ext uri="{FF2B5EF4-FFF2-40B4-BE49-F238E27FC236}">
                <a16:creationId xmlns:a16="http://schemas.microsoft.com/office/drawing/2014/main" id="{1DF5174F-7908-412B-8F73-C24619F4CA5A}"/>
              </a:ext>
            </a:extLst>
          </p:cNvPr>
          <p:cNvSpPr>
            <a:spLocks xmlns:a="http://schemas.openxmlformats.org/drawingml/2006/main" noGrp="1"/>
          </p:cNvSpPr>
          <p:nvPr/>
        </p:nvSpPr>
        <p:spPr>
          <a:xfrm xmlns:a="http://schemas.openxmlformats.org/drawingml/2006/main">
            <a:off x="495300" y="17907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827"/>
                </a:solidFill>
              </a:defRPr>
            </a:pPr>
            <a:r>
              <a:rPr sz="1875" b="1">
                <a:solidFill>
                  <a:srgbClr val="111827"/>
                </a:solidFill>
              </a:rPr>
              <a:t>GIS describes candidate districts before the move. The surveys reveal less about the household-specific ties that made one candidate reachable.</a:t>
            </a:r>
          </a:p>
        </p:txBody>
      </p:sp>
      <p:sp>
        <p:nvSpPr>
          <p:cNvPr id="6" name="limit-panel-0">
            <a:extLst xmlns:a="http://schemas.openxmlformats.org/drawingml/2006/main">
              <a:ext uri="{FF2B5EF4-FFF2-40B4-BE49-F238E27FC236}">
                <a16:creationId xmlns:a16="http://schemas.microsoft.com/office/drawing/2014/main" id="{F8F2F2D7-F95F-4503-ADB2-6D93787C0E48}"/>
              </a:ext>
            </a:extLst>
          </p:cNvPr>
          <p:cNvSpPr>
            <a:spLocks xmlns:a="http://schemas.openxmlformats.org/drawingml/2006/main" noGrp="1"/>
          </p:cNvSpPr>
          <p:nvPr/>
        </p:nvSpPr>
        <p:spPr>
          <a:xfrm xmlns:a="http://schemas.openxmlformats.org/drawingml/2006/main">
            <a:off x="495300" y="3190875"/>
            <a:ext cx="3333750" cy="22860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7" name="limit-head-0">
            <a:extLst xmlns:a="http://schemas.openxmlformats.org/drawingml/2006/main">
              <a:ext uri="{FF2B5EF4-FFF2-40B4-BE49-F238E27FC236}">
                <a16:creationId xmlns:a16="http://schemas.microsoft.com/office/drawing/2014/main" id="{6E4937A7-5578-44C1-A05F-6385B168099D}"/>
              </a:ext>
            </a:extLst>
          </p:cNvPr>
          <p:cNvSpPr>
            <a:spLocks xmlns:a="http://schemas.openxmlformats.org/drawingml/2006/main" noGrp="1"/>
          </p:cNvSpPr>
          <p:nvPr/>
        </p:nvSpPr>
        <p:spPr>
          <a:xfrm xmlns:a="http://schemas.openxmlformats.org/drawingml/2006/main">
            <a:off x="723900" y="3467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877C9"/>
                </a:solidFill>
              </a:defRPr>
            </a:pPr>
            <a:r>
              <a:rPr sz="1725" b="1">
                <a:solidFill>
                  <a:srgbClr val="1877C9"/>
                </a:solidFill>
              </a:rPr>
              <a:t>Networks</a:t>
            </a:r>
          </a:p>
        </p:txBody>
      </p:sp>
      <p:sp>
        <p:nvSpPr>
          <p:cNvPr id="8" name="limit-body-0">
            <a:extLst xmlns:a="http://schemas.openxmlformats.org/drawingml/2006/main">
              <a:ext uri="{FF2B5EF4-FFF2-40B4-BE49-F238E27FC236}">
                <a16:creationId xmlns:a16="http://schemas.microsoft.com/office/drawing/2014/main" id="{B014988F-4021-4D4C-B535-BD78C5F22E67}"/>
              </a:ext>
            </a:extLst>
          </p:cNvPr>
          <p:cNvSpPr>
            <a:spLocks xmlns:a="http://schemas.openxmlformats.org/drawingml/2006/main" noGrp="1"/>
          </p:cNvSpPr>
          <p:nvPr/>
        </p:nvSpPr>
        <p:spPr>
          <a:xfrm xmlns:a="http://schemas.openxmlformats.org/drawingml/2006/main">
            <a:off x="723900" y="4010025"/>
            <a:ext cx="2876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6070"/>
                </a:solidFill>
              </a:defRPr>
            </a:pPr>
            <a:r>
              <a:rPr sz="1275" b="0">
                <a:solidFill>
                  <a:srgbClr val="556070"/>
                </a:solidFill>
              </a:rPr>
              <a:t>1,815 of 1,857 BIHS interval migrants report friends or family help at destination, but that measure is recorded after the choice.</a:t>
            </a:r>
          </a:p>
        </p:txBody>
      </p:sp>
      <p:sp>
        <p:nvSpPr>
          <p:cNvPr id="9" name="limit-panel-1">
            <a:extLst xmlns:a="http://schemas.openxmlformats.org/drawingml/2006/main">
              <a:ext uri="{FF2B5EF4-FFF2-40B4-BE49-F238E27FC236}">
                <a16:creationId xmlns:a16="http://schemas.microsoft.com/office/drawing/2014/main" id="{E16F7C16-0DC2-43EA-A520-B9E3F49B6370}"/>
              </a:ext>
            </a:extLst>
          </p:cNvPr>
          <p:cNvSpPr>
            <a:spLocks xmlns:a="http://schemas.openxmlformats.org/drawingml/2006/main" noGrp="1"/>
          </p:cNvSpPr>
          <p:nvPr/>
        </p:nvSpPr>
        <p:spPr>
          <a:xfrm xmlns:a="http://schemas.openxmlformats.org/drawingml/2006/main">
            <a:off x="4305300" y="3190875"/>
            <a:ext cx="3333750" cy="22860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0" name="limit-head-1">
            <a:extLst xmlns:a="http://schemas.openxmlformats.org/drawingml/2006/main">
              <a:ext uri="{FF2B5EF4-FFF2-40B4-BE49-F238E27FC236}">
                <a16:creationId xmlns:a16="http://schemas.microsoft.com/office/drawing/2014/main" id="{1D8C2FD5-D355-4F83-9AFB-21240B69CDE2}"/>
              </a:ext>
            </a:extLst>
          </p:cNvPr>
          <p:cNvSpPr>
            <a:spLocks xmlns:a="http://schemas.openxmlformats.org/drawingml/2006/main" noGrp="1"/>
          </p:cNvSpPr>
          <p:nvPr/>
        </p:nvSpPr>
        <p:spPr>
          <a:xfrm xmlns:a="http://schemas.openxmlformats.org/drawingml/2006/main">
            <a:off x="4533900" y="3467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Resolution</a:t>
            </a:r>
          </a:p>
        </p:txBody>
      </p:sp>
      <p:sp>
        <p:nvSpPr>
          <p:cNvPr id="11" name="limit-body-1">
            <a:extLst xmlns:a="http://schemas.openxmlformats.org/drawingml/2006/main">
              <a:ext uri="{FF2B5EF4-FFF2-40B4-BE49-F238E27FC236}">
                <a16:creationId xmlns:a16="http://schemas.microsoft.com/office/drawing/2014/main" id="{5F7706E8-C9A8-4505-A8D7-FD79BCD7E554}"/>
              </a:ext>
            </a:extLst>
          </p:cNvPr>
          <p:cNvSpPr>
            <a:spLocks xmlns:a="http://schemas.openxmlformats.org/drawingml/2006/main" noGrp="1"/>
          </p:cNvSpPr>
          <p:nvPr/>
        </p:nvSpPr>
        <p:spPr>
          <a:xfrm xmlns:a="http://schemas.openxmlformats.org/drawingml/2006/main">
            <a:off x="4533900" y="4010025"/>
            <a:ext cx="2876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6070"/>
                </a:solidFill>
              </a:defRPr>
            </a:pPr>
            <a:r>
              <a:rPr sz="1275" b="0">
                <a:solidFill>
                  <a:srgbClr val="556070"/>
                </a:solidFill>
              </a:rPr>
              <a:t>Public geography is district-level. The model cannot distinguish neighborhoods, villages, or exact addresses.</a:t>
            </a:r>
          </a:p>
        </p:txBody>
      </p:sp>
      <p:sp>
        <p:nvSpPr>
          <p:cNvPr id="12" name="limit-panel-2">
            <a:extLst xmlns:a="http://schemas.openxmlformats.org/drawingml/2006/main">
              <a:ext uri="{FF2B5EF4-FFF2-40B4-BE49-F238E27FC236}">
                <a16:creationId xmlns:a16="http://schemas.microsoft.com/office/drawing/2014/main" id="{7D5D29FE-681A-419F-87D3-05EB16E2FCEA}"/>
              </a:ext>
            </a:extLst>
          </p:cNvPr>
          <p:cNvSpPr>
            <a:spLocks xmlns:a="http://schemas.openxmlformats.org/drawingml/2006/main" noGrp="1"/>
          </p:cNvSpPr>
          <p:nvPr/>
        </p:nvSpPr>
        <p:spPr>
          <a:xfrm xmlns:a="http://schemas.openxmlformats.org/drawingml/2006/main">
            <a:off x="8115300" y="3190875"/>
            <a:ext cx="3333750" cy="22860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3" name="limit-head-2">
            <a:extLst xmlns:a="http://schemas.openxmlformats.org/drawingml/2006/main">
              <a:ext uri="{FF2B5EF4-FFF2-40B4-BE49-F238E27FC236}">
                <a16:creationId xmlns:a16="http://schemas.microsoft.com/office/drawing/2014/main" id="{BAFAC390-47D6-4FBE-84C5-B9A21349B6D7}"/>
              </a:ext>
            </a:extLst>
          </p:cNvPr>
          <p:cNvSpPr>
            <a:spLocks xmlns:a="http://schemas.openxmlformats.org/drawingml/2006/main" noGrp="1"/>
          </p:cNvSpPr>
          <p:nvPr/>
        </p:nvSpPr>
        <p:spPr>
          <a:xfrm xmlns:a="http://schemas.openxmlformats.org/drawingml/2006/main">
            <a:off x="8343900" y="3467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Interpretation</a:t>
            </a:r>
          </a:p>
        </p:txBody>
      </p:sp>
      <p:sp>
        <p:nvSpPr>
          <p:cNvPr id="14" name="limit-body-2">
            <a:extLst xmlns:a="http://schemas.openxmlformats.org/drawingml/2006/main">
              <a:ext uri="{FF2B5EF4-FFF2-40B4-BE49-F238E27FC236}">
                <a16:creationId xmlns:a16="http://schemas.microsoft.com/office/drawing/2014/main" id="{6044B0FE-366A-4730-B25C-7FF4B9E62699}"/>
              </a:ext>
            </a:extLst>
          </p:cNvPr>
          <p:cNvSpPr>
            <a:spLocks xmlns:a="http://schemas.openxmlformats.org/drawingml/2006/main" noGrp="1"/>
          </p:cNvSpPr>
          <p:nvPr/>
        </p:nvSpPr>
        <p:spPr>
          <a:xfrm xmlns:a="http://schemas.openxmlformats.org/drawingml/2006/main">
            <a:off x="8343900" y="4010025"/>
            <a:ext cx="2876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56070"/>
                </a:solidFill>
              </a:defRPr>
            </a:pPr>
            <a:r>
              <a:rPr sz="1275" b="0">
                <a:solidFill>
                  <a:srgbClr val="556070"/>
                </a:solidFill>
              </a:rPr>
              <a:t>These are out-of-sample predictions. They do not identify the causal effect of any single GIS feature.</a:t>
            </a:r>
          </a:p>
        </p:txBody>
      </p:sp>
    </p:spTree>
    <p:extLst>
      <p:ext uri="{BB962C8B-B14F-4D97-AF65-F5344CB8AC3E}">
        <p14:creationId xmlns:p14="http://schemas.microsoft.com/office/powerpoint/2010/main" val="421608105"/>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7" name="close-kicker">
            <a:extLst xmlns:a="http://schemas.openxmlformats.org/drawingml/2006/main">
              <a:ext uri="{FF2B5EF4-FFF2-40B4-BE49-F238E27FC236}">
                <a16:creationId xmlns:a16="http://schemas.microsoft.com/office/drawing/2014/main" id="{9602BA35-2DC4-4863-8368-32811D925D64}"/>
              </a:ext>
            </a:extLst>
          </p:cNvPr>
          <p:cNvSpPr>
            <a:spLocks xmlns:a="http://schemas.openxmlformats.org/drawingml/2006/main" noGrp="1"/>
          </p:cNvSpPr>
          <p:nvPr/>
        </p:nvSpPr>
        <p:spPr>
          <a:xfrm xmlns:a="http://schemas.openxmlformats.org/drawingml/2006/main">
            <a:off x="495300" y="4476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73C7F3"/>
                </a:solidFill>
              </a:defRPr>
            </a:pPr>
            <a:r>
              <a:rPr sz="1050" b="1">
                <a:solidFill>
                  <a:srgbClr val="73C7F3"/>
                </a:solidFill>
              </a:rPr>
              <a:t>WHAT WE NOW KNOW</a:t>
            </a:r>
          </a:p>
        </p:txBody>
      </p:sp>
      <p:sp>
        <p:nvSpPr>
          <p:cNvPr id="2" name="close-title">
            <a:extLst xmlns:a="http://schemas.openxmlformats.org/drawingml/2006/main">
              <a:ext uri="{FF2B5EF4-FFF2-40B4-BE49-F238E27FC236}">
                <a16:creationId xmlns:a16="http://schemas.microsoft.com/office/drawing/2014/main" id="{6E77A870-90D2-4263-9F93-9153F72FBCFD}"/>
              </a:ext>
            </a:extLst>
          </p:cNvPr>
          <p:cNvSpPr>
            <a:spLocks xmlns:a="http://schemas.openxmlformats.org/drawingml/2006/main" noGrp="1"/>
          </p:cNvSpPr>
          <p:nvPr/>
        </p:nvSpPr>
        <p:spPr>
          <a:xfrm xmlns:a="http://schemas.openxmlformats.org/drawingml/2006/main">
            <a:off x="495300" y="1543050"/>
            <a:ext cx="9906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FFFFFF"/>
                </a:solidFill>
              </a:defRPr>
            </a:pPr>
            <a:r>
              <a:rPr sz="3750" b="1">
                <a:solidFill>
                  <a:srgbClr val="FFFFFF"/>
                </a:solidFill>
              </a:rPr>
              <a:t>A climate shock changes where a family must choose from.</a:t>
            </a:r>
          </a:p>
        </p:txBody>
      </p:sp>
      <p:sp>
        <p:nvSpPr>
          <p:cNvPr id="3" name="close-body">
            <a:extLst xmlns:a="http://schemas.openxmlformats.org/drawingml/2006/main">
              <a:ext uri="{FF2B5EF4-FFF2-40B4-BE49-F238E27FC236}">
                <a16:creationId xmlns:a16="http://schemas.microsoft.com/office/drawing/2014/main" id="{7BF546FE-6BF6-4F9F-8141-58F0A5C3580E}"/>
              </a:ext>
            </a:extLst>
          </p:cNvPr>
          <p:cNvSpPr>
            <a:spLocks xmlns:a="http://schemas.openxmlformats.org/drawingml/2006/main" noGrp="1"/>
          </p:cNvSpPr>
          <p:nvPr/>
        </p:nvSpPr>
        <p:spPr>
          <a:xfrm xmlns:a="http://schemas.openxmlformats.org/drawingml/2006/main">
            <a:off x="495300" y="3343275"/>
            <a:ext cx="9001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D6DBE2"/>
                </a:solidFill>
              </a:defRPr>
            </a:pPr>
            <a:r>
              <a:rPr sz="1800" b="0">
                <a:solidFill>
                  <a:srgbClr val="D6DBE2"/>
                </a:solidFill>
              </a:rPr>
              <a:t>Distance matters, but it is not enough. Across two public household surveys, the geography of candidate destinations improves prediction of where movers actually go.</a:t>
            </a:r>
          </a:p>
        </p:txBody>
      </p:sp>
      <p:sp>
        <p:nvSpPr>
          <p:cNvPr id="4" name="close-rule">
            <a:extLst xmlns:a="http://schemas.openxmlformats.org/drawingml/2006/main">
              <a:ext uri="{FF2B5EF4-FFF2-40B4-BE49-F238E27FC236}">
                <a16:creationId xmlns:a16="http://schemas.microsoft.com/office/drawing/2014/main" id="{DFEC6709-BCAA-4388-B75D-4B6BB53AC2B0}"/>
              </a:ext>
            </a:extLst>
          </p:cNvPr>
          <p:cNvSpPr>
            <a:spLocks xmlns:a="http://schemas.openxmlformats.org/drawingml/2006/main" noGrp="1"/>
          </p:cNvSpPr>
          <p:nvPr/>
        </p:nvSpPr>
        <p:spPr>
          <a:xfrm xmlns:a="http://schemas.openxmlformats.org/drawingml/2006/main">
            <a:off x="495300" y="4972050"/>
            <a:ext cx="11201400" cy="19050"/>
          </a:xfrm>
          <a:prstGeom xmlns:a="http://schemas.openxmlformats.org/drawingml/2006/main" prst="rect">
            <a:avLst/>
          </a:prstGeom>
          <a:solidFill xmlns:a="http://schemas.openxmlformats.org/drawingml/2006/main">
            <a:srgbClr val="5A6572"/>
          </a:solidFill>
          <a:ln xmlns:a="http://schemas.openxmlformats.org/drawingml/2006/main" w="0">
            <a:noFill/>
            <a:prstDash val="solid"/>
          </a:ln>
        </p:spPr>
      </p:sp>
      <p:sp>
        <p:nvSpPr>
          <p:cNvPr id="5" name="close-action">
            <a:extLst xmlns:a="http://schemas.openxmlformats.org/drawingml/2006/main">
              <a:ext uri="{FF2B5EF4-FFF2-40B4-BE49-F238E27FC236}">
                <a16:creationId xmlns:a16="http://schemas.microsoft.com/office/drawing/2014/main" id="{907DB5B7-975F-4BA9-89B9-146C4ABB77D4}"/>
              </a:ext>
            </a:extLst>
          </p:cNvPr>
          <p:cNvSpPr>
            <a:spLocks xmlns:a="http://schemas.openxmlformats.org/drawingml/2006/main" noGrp="1"/>
          </p:cNvSpPr>
          <p:nvPr/>
        </p:nvSpPr>
        <p:spPr>
          <a:xfrm xmlns:a="http://schemas.openxmlformats.org/drawingml/2006/main">
            <a:off x="495300" y="5314950"/>
            <a:ext cx="1019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73C7F3"/>
                </a:solidFill>
              </a:defRPr>
            </a:pPr>
            <a:r>
              <a:rPr sz="1725" b="1">
                <a:solidFill>
                  <a:srgbClr val="73C7F3"/>
                </a:solidFill>
              </a:rPr>
              <a:t>Next: measure pre-move social ties, housing, land, and jobs for every plausible destination.</a:t>
            </a:r>
          </a:p>
        </p:txBody>
      </p:sp>
      <p:sp>
        <p:nvSpPr>
          <p:cNvPr id="6" name="close-number">
            <a:extLst xmlns:a="http://schemas.openxmlformats.org/drawingml/2006/main">
              <a:ext uri="{FF2B5EF4-FFF2-40B4-BE49-F238E27FC236}">
                <a16:creationId xmlns:a16="http://schemas.microsoft.com/office/drawing/2014/main" id="{7D69A720-4EC4-4961-983E-5C0384C7791E}"/>
              </a:ext>
            </a:extLst>
          </p:cNvPr>
          <p:cNvSpPr>
            <a:spLocks xmlns:a="http://schemas.openxmlformats.org/drawingml/2006/main" noGrp="1"/>
          </p:cNvSpPr>
          <p:nvPr/>
        </p:nvSpPr>
        <p:spPr>
          <a:xfrm xmlns:a="http://schemas.openxmlformats.org/drawingml/2006/main">
            <a:off x="11220450"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9AA4B0"/>
                </a:solidFill>
              </a:defRPr>
            </a:pPr>
            <a:r>
              <a:rPr sz="825" b="0">
                <a:solidFill>
                  <a:srgbClr val="9AA4B0"/>
                </a:solidFill>
              </a:rPr>
              <a:t>07</a:t>
            </a:r>
          </a:p>
        </p:txBody>
      </p:sp>
    </p:spTree>
    <p:extLst>
      <p:ext uri="{BB962C8B-B14F-4D97-AF65-F5344CB8AC3E}">
        <p14:creationId xmlns:p14="http://schemas.microsoft.com/office/powerpoint/2010/main" val="1857320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2026-08-30T22:46:36.6970000Z</dcterms:created>
  <dcterms:modified xsi:type="dcterms:W3CDTF">2026-08-30T22:46:36.6970000Z</dcterms:modified>
</coreProperties>
</file>